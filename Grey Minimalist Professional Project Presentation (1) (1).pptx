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jpg" ContentType="image/jp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4661539" cy="35334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46219" y="327920"/>
            <a:ext cx="11795561" cy="1582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23114" y="1708582"/>
            <a:ext cx="10776585" cy="6674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3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02312" y="6882983"/>
            <a:ext cx="4585687" cy="340401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597918"/>
            <a:ext cx="4175760" cy="3689350"/>
            <a:chOff x="0" y="6597918"/>
            <a:chExt cx="4175760" cy="3689350"/>
          </a:xfrm>
        </p:grpSpPr>
        <p:sp>
          <p:nvSpPr>
            <p:cNvPr id="4" name="object 4"/>
            <p:cNvSpPr/>
            <p:nvPr/>
          </p:nvSpPr>
          <p:spPr>
            <a:xfrm>
              <a:off x="0" y="6597918"/>
              <a:ext cx="4175760" cy="3689350"/>
            </a:xfrm>
            <a:custGeom>
              <a:avLst/>
              <a:gdLst/>
              <a:ahLst/>
              <a:cxnLst/>
              <a:rect l="l" t="t" r="r" b="b"/>
              <a:pathLst>
                <a:path w="4175760" h="3689350">
                  <a:moveTo>
                    <a:pt x="4175440" y="3689081"/>
                  </a:moveTo>
                  <a:lnTo>
                    <a:pt x="0" y="0"/>
                  </a:lnTo>
                  <a:lnTo>
                    <a:pt x="0" y="3689081"/>
                  </a:lnTo>
                  <a:lnTo>
                    <a:pt x="4175440" y="3689081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6727806"/>
              <a:ext cx="3559810" cy="3559810"/>
            </a:xfrm>
            <a:custGeom>
              <a:avLst/>
              <a:gdLst/>
              <a:ahLst/>
              <a:cxnLst/>
              <a:rect l="l" t="t" r="r" b="b"/>
              <a:pathLst>
                <a:path w="3559810" h="3559809">
                  <a:moveTo>
                    <a:pt x="0" y="3559193"/>
                  </a:moveTo>
                  <a:lnTo>
                    <a:pt x="3559193" y="3559193"/>
                  </a:lnTo>
                  <a:lnTo>
                    <a:pt x="0" y="0"/>
                  </a:lnTo>
                  <a:lnTo>
                    <a:pt x="0" y="355919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15488054" y="0"/>
            <a:ext cx="2800350" cy="2526030"/>
            <a:chOff x="15488054" y="0"/>
            <a:chExt cx="2800350" cy="2526030"/>
          </a:xfrm>
        </p:grpSpPr>
        <p:sp>
          <p:nvSpPr>
            <p:cNvPr id="7" name="object 7"/>
            <p:cNvSpPr/>
            <p:nvPr/>
          </p:nvSpPr>
          <p:spPr>
            <a:xfrm>
              <a:off x="15488054" y="0"/>
              <a:ext cx="2800350" cy="2526030"/>
            </a:xfrm>
            <a:custGeom>
              <a:avLst/>
              <a:gdLst/>
              <a:ahLst/>
              <a:cxnLst/>
              <a:rect l="l" t="t" r="r" b="b"/>
              <a:pathLst>
                <a:path w="2800350" h="2526030">
                  <a:moveTo>
                    <a:pt x="0" y="0"/>
                  </a:moveTo>
                  <a:lnTo>
                    <a:pt x="2799944" y="2525886"/>
                  </a:lnTo>
                  <a:lnTo>
                    <a:pt x="279994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5844815" y="0"/>
              <a:ext cx="2443480" cy="2443480"/>
            </a:xfrm>
            <a:custGeom>
              <a:avLst/>
              <a:gdLst/>
              <a:ahLst/>
              <a:cxnLst/>
              <a:rect l="l" t="t" r="r" b="b"/>
              <a:pathLst>
                <a:path w="2443480" h="2443480">
                  <a:moveTo>
                    <a:pt x="2443184" y="0"/>
                  </a:moveTo>
                  <a:lnTo>
                    <a:pt x="0" y="0"/>
                  </a:lnTo>
                  <a:lnTo>
                    <a:pt x="2443184" y="2443184"/>
                  </a:lnTo>
                  <a:lnTo>
                    <a:pt x="24431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5153258" y="1635318"/>
            <a:ext cx="7981315" cy="1779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0" spc="-10"/>
              <a:t>AEROSAFE</a:t>
            </a:r>
            <a:endParaRPr sz="11500"/>
          </a:p>
        </p:txBody>
      </p:sp>
      <p:sp>
        <p:nvSpPr>
          <p:cNvPr id="10" name="object 10"/>
          <p:cNvSpPr txBox="1"/>
          <p:nvPr/>
        </p:nvSpPr>
        <p:spPr>
          <a:xfrm>
            <a:off x="1367674" y="3925573"/>
            <a:ext cx="13761719" cy="42824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771014">
              <a:lnSpc>
                <a:spcPct val="100000"/>
              </a:lnSpc>
              <a:spcBef>
                <a:spcPts val="114"/>
              </a:spcBef>
            </a:pPr>
            <a:r>
              <a:rPr dirty="0" sz="4450">
                <a:solidFill>
                  <a:srgbClr val="535353"/>
                </a:solidFill>
                <a:latin typeface="Times New Roman"/>
                <a:cs typeface="Times New Roman"/>
              </a:rPr>
              <a:t>Arduino</a:t>
            </a:r>
            <a:r>
              <a:rPr dirty="0" sz="4450" spc="-3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dirty="0" sz="4450">
                <a:solidFill>
                  <a:srgbClr val="535353"/>
                </a:solidFill>
                <a:latin typeface="Times New Roman"/>
                <a:cs typeface="Times New Roman"/>
              </a:rPr>
              <a:t>Based</a:t>
            </a:r>
            <a:r>
              <a:rPr dirty="0" sz="4450" spc="-2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dirty="0" sz="4450">
                <a:solidFill>
                  <a:srgbClr val="535353"/>
                </a:solidFill>
                <a:latin typeface="Times New Roman"/>
                <a:cs typeface="Times New Roman"/>
              </a:rPr>
              <a:t>Gas</a:t>
            </a:r>
            <a:r>
              <a:rPr dirty="0" sz="4450" spc="-2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dirty="0" sz="4450">
                <a:solidFill>
                  <a:srgbClr val="535353"/>
                </a:solidFill>
                <a:latin typeface="Times New Roman"/>
                <a:cs typeface="Times New Roman"/>
              </a:rPr>
              <a:t>Leakage</a:t>
            </a:r>
            <a:r>
              <a:rPr dirty="0" sz="4450" spc="-2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dirty="0" sz="4450">
                <a:solidFill>
                  <a:srgbClr val="535353"/>
                </a:solidFill>
                <a:latin typeface="Times New Roman"/>
                <a:cs typeface="Times New Roman"/>
              </a:rPr>
              <a:t>and</a:t>
            </a:r>
            <a:r>
              <a:rPr dirty="0" sz="4450" spc="-20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dirty="0" sz="4450">
                <a:solidFill>
                  <a:srgbClr val="535353"/>
                </a:solidFill>
                <a:latin typeface="Times New Roman"/>
                <a:cs typeface="Times New Roman"/>
              </a:rPr>
              <a:t>Ventilation</a:t>
            </a:r>
            <a:r>
              <a:rPr dirty="0" sz="4450" spc="-15">
                <a:solidFill>
                  <a:srgbClr val="535353"/>
                </a:solidFill>
                <a:latin typeface="Times New Roman"/>
                <a:cs typeface="Times New Roman"/>
              </a:rPr>
              <a:t> </a:t>
            </a:r>
            <a:r>
              <a:rPr dirty="0" sz="4450" spc="-10">
                <a:solidFill>
                  <a:srgbClr val="535353"/>
                </a:solidFill>
                <a:latin typeface="Times New Roman"/>
                <a:cs typeface="Times New Roman"/>
              </a:rPr>
              <a:t>System</a:t>
            </a:r>
            <a:endParaRPr sz="4450">
              <a:latin typeface="Times New Roman"/>
              <a:cs typeface="Times New Roman"/>
            </a:endParaRPr>
          </a:p>
          <a:p>
            <a:pPr marL="12700" marR="9025255">
              <a:lnSpc>
                <a:spcPct val="116900"/>
              </a:lnSpc>
              <a:spcBef>
                <a:spcPts val="2885"/>
              </a:spcBef>
            </a:pPr>
            <a:r>
              <a:rPr dirty="0" sz="3250" b="1">
                <a:latin typeface="Times New Roman"/>
                <a:cs typeface="Times New Roman"/>
              </a:rPr>
              <a:t>TEAM</a:t>
            </a:r>
            <a:r>
              <a:rPr dirty="0" sz="3250" spc="105" b="1">
                <a:latin typeface="Times New Roman"/>
                <a:cs typeface="Times New Roman"/>
              </a:rPr>
              <a:t> </a:t>
            </a:r>
            <a:r>
              <a:rPr dirty="0" sz="3250" spc="-10" b="1">
                <a:latin typeface="Times New Roman"/>
                <a:cs typeface="Times New Roman"/>
              </a:rPr>
              <a:t>MEMBERS: </a:t>
            </a:r>
            <a:r>
              <a:rPr dirty="0" sz="2950" spc="170">
                <a:latin typeface="Times New Roman"/>
                <a:cs typeface="Times New Roman"/>
              </a:rPr>
              <a:t>AKASH</a:t>
            </a:r>
            <a:r>
              <a:rPr dirty="0" sz="2950" spc="10">
                <a:latin typeface="Times New Roman"/>
                <a:cs typeface="Times New Roman"/>
              </a:rPr>
              <a:t> </a:t>
            </a:r>
            <a:r>
              <a:rPr dirty="0" sz="2950" spc="135">
                <a:latin typeface="Times New Roman"/>
                <a:cs typeface="Times New Roman"/>
              </a:rPr>
              <a:t>VERGHESE</a:t>
            </a:r>
            <a:r>
              <a:rPr dirty="0" sz="2950" spc="15">
                <a:latin typeface="Times New Roman"/>
                <a:cs typeface="Times New Roman"/>
              </a:rPr>
              <a:t> </a:t>
            </a:r>
            <a:r>
              <a:rPr dirty="0" sz="2950" spc="-20">
                <a:latin typeface="Times New Roman"/>
                <a:cs typeface="Times New Roman"/>
              </a:rPr>
              <a:t>PAUL </a:t>
            </a:r>
            <a:r>
              <a:rPr dirty="0" sz="2950" spc="160">
                <a:latin typeface="Times New Roman"/>
                <a:cs typeface="Times New Roman"/>
              </a:rPr>
              <a:t>AGNA</a:t>
            </a:r>
            <a:r>
              <a:rPr dirty="0" sz="2950" spc="10">
                <a:latin typeface="Times New Roman"/>
                <a:cs typeface="Times New Roman"/>
              </a:rPr>
              <a:t> </a:t>
            </a:r>
            <a:r>
              <a:rPr dirty="0" sz="2950" spc="185">
                <a:latin typeface="Times New Roman"/>
                <a:cs typeface="Times New Roman"/>
              </a:rPr>
              <a:t>ANTONY</a:t>
            </a:r>
            <a:endParaRPr sz="2950">
              <a:latin typeface="Times New Roman"/>
              <a:cs typeface="Times New Roman"/>
            </a:endParaRPr>
          </a:p>
          <a:p>
            <a:pPr marL="12700" marR="9973310">
              <a:lnSpc>
                <a:spcPct val="116500"/>
              </a:lnSpc>
            </a:pPr>
            <a:r>
              <a:rPr dirty="0" sz="2950" spc="220">
                <a:latin typeface="Times New Roman"/>
                <a:cs typeface="Times New Roman"/>
              </a:rPr>
              <a:t>ADNAN</a:t>
            </a:r>
            <a:r>
              <a:rPr dirty="0" sz="2950" spc="5">
                <a:latin typeface="Times New Roman"/>
                <a:cs typeface="Times New Roman"/>
              </a:rPr>
              <a:t> </a:t>
            </a:r>
            <a:r>
              <a:rPr dirty="0" sz="2950" spc="145">
                <a:latin typeface="Times New Roman"/>
                <a:cs typeface="Times New Roman"/>
              </a:rPr>
              <a:t>BASHEER</a:t>
            </a:r>
            <a:r>
              <a:rPr dirty="0" sz="2950" spc="5">
                <a:latin typeface="Times New Roman"/>
                <a:cs typeface="Times New Roman"/>
              </a:rPr>
              <a:t> </a:t>
            </a:r>
            <a:r>
              <a:rPr dirty="0" sz="2950" spc="95">
                <a:latin typeface="Times New Roman"/>
                <a:cs typeface="Times New Roman"/>
              </a:rPr>
              <a:t>P GAYATHRI</a:t>
            </a:r>
            <a:r>
              <a:rPr dirty="0" sz="2950" spc="15">
                <a:latin typeface="Times New Roman"/>
                <a:cs typeface="Times New Roman"/>
              </a:rPr>
              <a:t> </a:t>
            </a:r>
            <a:r>
              <a:rPr dirty="0" sz="2950" spc="235">
                <a:latin typeface="Times New Roman"/>
                <a:cs typeface="Times New Roman"/>
              </a:rPr>
              <a:t>M</a:t>
            </a:r>
            <a:endParaRPr sz="2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2950" spc="215">
                <a:latin typeface="Times New Roman"/>
                <a:cs typeface="Times New Roman"/>
              </a:rPr>
              <a:t>HIMA</a:t>
            </a:r>
            <a:r>
              <a:rPr dirty="0" sz="2950" spc="10">
                <a:latin typeface="Times New Roman"/>
                <a:cs typeface="Times New Roman"/>
              </a:rPr>
              <a:t> </a:t>
            </a:r>
            <a:r>
              <a:rPr dirty="0" sz="2950" spc="160">
                <a:latin typeface="Times New Roman"/>
                <a:cs typeface="Times New Roman"/>
              </a:rPr>
              <a:t>MARIYAM</a:t>
            </a:r>
            <a:r>
              <a:rPr dirty="0" sz="2950" spc="10">
                <a:latin typeface="Times New Roman"/>
                <a:cs typeface="Times New Roman"/>
              </a:rPr>
              <a:t> </a:t>
            </a:r>
            <a:r>
              <a:rPr dirty="0" sz="2950" spc="195">
                <a:latin typeface="Times New Roman"/>
                <a:cs typeface="Times New Roman"/>
              </a:rPr>
              <a:t>KURIEN</a:t>
            </a:r>
            <a:endParaRPr sz="2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61535" cy="3632200"/>
            <a:chOff x="0" y="0"/>
            <a:chExt cx="4661535" cy="3632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6788" y="2774915"/>
              <a:ext cx="95250" cy="952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6788" y="3536914"/>
              <a:ext cx="95250" cy="9524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0125" rIns="0" bIns="0" rtlCol="0" vert="horz">
            <a:spAutoFit/>
          </a:bodyPr>
          <a:lstStyle/>
          <a:p>
            <a:pPr marL="183324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INTRODUCTION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6788" y="4298914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6788" y="5060914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6788" y="5822914"/>
            <a:ext cx="95250" cy="9524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116788" y="6584914"/>
            <a:ext cx="95250" cy="1619250"/>
            <a:chOff x="2116788" y="6584914"/>
            <a:chExt cx="95250" cy="161925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6788" y="6584914"/>
              <a:ext cx="95250" cy="952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6788" y="7346914"/>
              <a:ext cx="95250" cy="952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6788" y="8108914"/>
              <a:ext cx="95250" cy="9524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348464" y="2578096"/>
            <a:ext cx="7784465" cy="574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Times New Roman"/>
                <a:cs typeface="Times New Roman"/>
              </a:rPr>
              <a:t>Gas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leakage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is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serious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safety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issue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in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homes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industries.</a:t>
            </a:r>
            <a:endParaRPr sz="2500">
              <a:latin typeface="Times New Roman"/>
              <a:cs typeface="Times New Roman"/>
            </a:endParaRPr>
          </a:p>
          <a:p>
            <a:pPr marL="12700" marR="5080">
              <a:lnSpc>
                <a:spcPct val="200000"/>
              </a:lnSpc>
            </a:pPr>
            <a:r>
              <a:rPr dirty="0" sz="2500">
                <a:latin typeface="Times New Roman"/>
                <a:cs typeface="Times New Roman"/>
              </a:rPr>
              <a:t>Arduino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is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used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as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the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main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controller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for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sensor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monitoring. </a:t>
            </a:r>
            <a:r>
              <a:rPr dirty="0" sz="2500">
                <a:latin typeface="Times New Roman"/>
                <a:cs typeface="Times New Roman"/>
              </a:rPr>
              <a:t>MQ5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sensor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detects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gas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leakage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in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the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environment.</a:t>
            </a:r>
            <a:endParaRPr sz="2500">
              <a:latin typeface="Times New Roman"/>
              <a:cs typeface="Times New Roman"/>
            </a:endParaRPr>
          </a:p>
          <a:p>
            <a:pPr marL="12700" marR="2967990">
              <a:lnSpc>
                <a:spcPct val="200000"/>
              </a:lnSpc>
            </a:pPr>
            <a:r>
              <a:rPr dirty="0" sz="2500">
                <a:latin typeface="Times New Roman"/>
                <a:cs typeface="Times New Roman"/>
              </a:rPr>
              <a:t>DHT11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sensor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measures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temperature. </a:t>
            </a:r>
            <a:r>
              <a:rPr dirty="0" sz="2500">
                <a:latin typeface="Times New Roman"/>
                <a:cs typeface="Times New Roman"/>
              </a:rPr>
              <a:t>PIR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sensor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detects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human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movement.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500">
                <a:latin typeface="Times New Roman"/>
                <a:cs typeface="Times New Roman"/>
              </a:rPr>
              <a:t>LDR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sensor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measures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surrounding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light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intensity.</a:t>
            </a:r>
            <a:endParaRPr sz="2500">
              <a:latin typeface="Times New Roman"/>
              <a:cs typeface="Times New Roman"/>
            </a:endParaRPr>
          </a:p>
          <a:p>
            <a:pPr marL="12700" marR="59055">
              <a:lnSpc>
                <a:spcPct val="200000"/>
              </a:lnSpc>
            </a:pPr>
            <a:r>
              <a:rPr dirty="0" sz="2500">
                <a:latin typeface="Times New Roman"/>
                <a:cs typeface="Times New Roman"/>
              </a:rPr>
              <a:t>When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gas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leakage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is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detected,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ventilation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action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is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activated. </a:t>
            </a:r>
            <a:r>
              <a:rPr dirty="0" sz="2500">
                <a:latin typeface="Times New Roman"/>
                <a:cs typeface="Times New Roman"/>
              </a:rPr>
              <a:t>The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project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is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low-</a:t>
            </a:r>
            <a:r>
              <a:rPr dirty="0" sz="2500">
                <a:latin typeface="Times New Roman"/>
                <a:cs typeface="Times New Roman"/>
              </a:rPr>
              <a:t>cost,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simple,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easy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to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implement.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 h="0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074" y="2548669"/>
            <a:ext cx="76200" cy="761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0125" rIns="0" bIns="0" rtlCol="0" vert="horz">
            <a:spAutoFit/>
          </a:bodyPr>
          <a:lstStyle/>
          <a:p>
            <a:pPr marL="313118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ABSTRACT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074" y="4072669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074" y="6358669"/>
            <a:ext cx="76200" cy="761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55650" y="2323276"/>
            <a:ext cx="15716885" cy="574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2500" spc="75">
                <a:latin typeface="Times New Roman"/>
                <a:cs typeface="Times New Roman"/>
              </a:rPr>
              <a:t>The</a:t>
            </a:r>
            <a:r>
              <a:rPr dirty="0" sz="2500" spc="180">
                <a:latin typeface="Times New Roman"/>
                <a:cs typeface="Times New Roman"/>
              </a:rPr>
              <a:t> </a:t>
            </a:r>
            <a:r>
              <a:rPr dirty="0" sz="2500" spc="80">
                <a:latin typeface="Times New Roman"/>
                <a:cs typeface="Times New Roman"/>
              </a:rPr>
              <a:t>proposed</a:t>
            </a:r>
            <a:r>
              <a:rPr dirty="0" sz="2500" spc="18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system</a:t>
            </a:r>
            <a:r>
              <a:rPr dirty="0" sz="2500" spc="18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is</a:t>
            </a:r>
            <a:r>
              <a:rPr dirty="0" sz="2500" spc="18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designed</a:t>
            </a:r>
            <a:r>
              <a:rPr dirty="0" sz="2500" spc="185">
                <a:latin typeface="Times New Roman"/>
                <a:cs typeface="Times New Roman"/>
              </a:rPr>
              <a:t> </a:t>
            </a:r>
            <a:r>
              <a:rPr dirty="0" sz="2500" spc="125">
                <a:latin typeface="Times New Roman"/>
                <a:cs typeface="Times New Roman"/>
              </a:rPr>
              <a:t>to</a:t>
            </a:r>
            <a:r>
              <a:rPr dirty="0" sz="2500" spc="180">
                <a:latin typeface="Times New Roman"/>
                <a:cs typeface="Times New Roman"/>
              </a:rPr>
              <a:t> </a:t>
            </a:r>
            <a:r>
              <a:rPr dirty="0" sz="2500" spc="55">
                <a:latin typeface="Times New Roman"/>
                <a:cs typeface="Times New Roman"/>
              </a:rPr>
              <a:t>enhance</a:t>
            </a:r>
            <a:r>
              <a:rPr dirty="0" sz="2500" spc="18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safety</a:t>
            </a:r>
            <a:r>
              <a:rPr dirty="0" sz="2500" spc="185">
                <a:latin typeface="Times New Roman"/>
                <a:cs typeface="Times New Roman"/>
              </a:rPr>
              <a:t> </a:t>
            </a:r>
            <a:r>
              <a:rPr dirty="0" sz="2500" spc="60">
                <a:latin typeface="Times New Roman"/>
                <a:cs typeface="Times New Roman"/>
              </a:rPr>
              <a:t>by</a:t>
            </a:r>
            <a:r>
              <a:rPr dirty="0" sz="2500" spc="18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detecting</a:t>
            </a:r>
            <a:r>
              <a:rPr dirty="0" sz="2500" spc="185">
                <a:latin typeface="Times New Roman"/>
                <a:cs typeface="Times New Roman"/>
              </a:rPr>
              <a:t> </a:t>
            </a:r>
            <a:r>
              <a:rPr dirty="0" sz="2500" spc="85">
                <a:latin typeface="Times New Roman"/>
                <a:cs typeface="Times New Roman"/>
              </a:rPr>
              <a:t>hazardous</a:t>
            </a:r>
            <a:r>
              <a:rPr dirty="0" sz="2500" spc="18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gas</a:t>
            </a:r>
            <a:r>
              <a:rPr dirty="0" sz="2500" spc="18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leaks</a:t>
            </a:r>
            <a:r>
              <a:rPr dirty="0" sz="2500" spc="185">
                <a:latin typeface="Times New Roman"/>
                <a:cs typeface="Times New Roman"/>
              </a:rPr>
              <a:t> </a:t>
            </a:r>
            <a:r>
              <a:rPr dirty="0" sz="2500" spc="120">
                <a:latin typeface="Times New Roman"/>
                <a:cs typeface="Times New Roman"/>
              </a:rPr>
              <a:t>and</a:t>
            </a:r>
            <a:r>
              <a:rPr dirty="0" sz="2500" spc="180">
                <a:latin typeface="Times New Roman"/>
                <a:cs typeface="Times New Roman"/>
              </a:rPr>
              <a:t> </a:t>
            </a:r>
            <a:r>
              <a:rPr dirty="0" sz="2500" spc="75">
                <a:latin typeface="Times New Roman"/>
                <a:cs typeface="Times New Roman"/>
              </a:rPr>
              <a:t>monitoring</a:t>
            </a:r>
            <a:r>
              <a:rPr dirty="0" sz="2500" spc="185">
                <a:latin typeface="Times New Roman"/>
                <a:cs typeface="Times New Roman"/>
              </a:rPr>
              <a:t> </a:t>
            </a:r>
            <a:r>
              <a:rPr dirty="0" sz="2500" spc="50">
                <a:latin typeface="Times New Roman"/>
                <a:cs typeface="Times New Roman"/>
              </a:rPr>
              <a:t>environmental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5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2500" spc="60">
                <a:latin typeface="Times New Roman"/>
                <a:cs typeface="Times New Roman"/>
              </a:rPr>
              <a:t>conditions</a:t>
            </a:r>
            <a:r>
              <a:rPr dirty="0" sz="2500" spc="9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in</a:t>
            </a:r>
            <a:r>
              <a:rPr dirty="0" sz="2500" spc="9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real</a:t>
            </a:r>
            <a:r>
              <a:rPr dirty="0" sz="2500" spc="100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Times New Roman"/>
                <a:cs typeface="Times New Roman"/>
              </a:rPr>
              <a:t>time.</a:t>
            </a:r>
            <a:endParaRPr sz="2500">
              <a:latin typeface="Times New Roman"/>
              <a:cs typeface="Times New Roman"/>
            </a:endParaRPr>
          </a:p>
          <a:p>
            <a:pPr algn="just" marL="12700" marR="5080">
              <a:lnSpc>
                <a:spcPct val="200000"/>
              </a:lnSpc>
            </a:pPr>
            <a:r>
              <a:rPr dirty="0" sz="2500" spc="75">
                <a:latin typeface="Times New Roman"/>
                <a:cs typeface="Times New Roman"/>
              </a:rPr>
              <a:t>The</a:t>
            </a:r>
            <a:r>
              <a:rPr dirty="0" sz="2500" spc="4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System</a:t>
            </a:r>
            <a:r>
              <a:rPr dirty="0" sz="2500" spc="4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is</a:t>
            </a:r>
            <a:r>
              <a:rPr dirty="0" sz="2500" spc="4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designed</a:t>
            </a:r>
            <a:r>
              <a:rPr dirty="0" sz="2500" spc="475">
                <a:latin typeface="Times New Roman"/>
                <a:cs typeface="Times New Roman"/>
              </a:rPr>
              <a:t> </a:t>
            </a:r>
            <a:r>
              <a:rPr dirty="0" sz="2500" spc="125">
                <a:latin typeface="Times New Roman"/>
                <a:cs typeface="Times New Roman"/>
              </a:rPr>
              <a:t>to</a:t>
            </a:r>
            <a:r>
              <a:rPr dirty="0" sz="2500" spc="4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detect</a:t>
            </a:r>
            <a:r>
              <a:rPr dirty="0" sz="2500" spc="4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gas</a:t>
            </a:r>
            <a:r>
              <a:rPr dirty="0" sz="2500" spc="4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leakage</a:t>
            </a:r>
            <a:r>
              <a:rPr dirty="0" sz="2500" spc="470">
                <a:latin typeface="Times New Roman"/>
                <a:cs typeface="Times New Roman"/>
              </a:rPr>
              <a:t> </a:t>
            </a:r>
            <a:r>
              <a:rPr dirty="0" sz="2500" spc="120">
                <a:latin typeface="Times New Roman"/>
                <a:cs typeface="Times New Roman"/>
              </a:rPr>
              <a:t>and</a:t>
            </a:r>
            <a:r>
              <a:rPr dirty="0" sz="2500" spc="475">
                <a:latin typeface="Times New Roman"/>
                <a:cs typeface="Times New Roman"/>
              </a:rPr>
              <a:t> </a:t>
            </a:r>
            <a:r>
              <a:rPr dirty="0" sz="2500" spc="95">
                <a:latin typeface="Times New Roman"/>
                <a:cs typeface="Times New Roman"/>
              </a:rPr>
              <a:t>monitor</a:t>
            </a:r>
            <a:r>
              <a:rPr dirty="0" sz="2500" spc="470">
                <a:latin typeface="Times New Roman"/>
                <a:cs typeface="Times New Roman"/>
              </a:rPr>
              <a:t> </a:t>
            </a:r>
            <a:r>
              <a:rPr dirty="0" sz="2500" spc="60">
                <a:latin typeface="Times New Roman"/>
                <a:cs typeface="Times New Roman"/>
              </a:rPr>
              <a:t>environmental</a:t>
            </a:r>
            <a:r>
              <a:rPr dirty="0" sz="2500" spc="475">
                <a:latin typeface="Times New Roman"/>
                <a:cs typeface="Times New Roman"/>
              </a:rPr>
              <a:t> </a:t>
            </a:r>
            <a:r>
              <a:rPr dirty="0" sz="2500" spc="60">
                <a:latin typeface="Times New Roman"/>
                <a:cs typeface="Times New Roman"/>
              </a:rPr>
              <a:t>conditions</a:t>
            </a:r>
            <a:r>
              <a:rPr dirty="0" sz="2500" spc="4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using</a:t>
            </a:r>
            <a:r>
              <a:rPr dirty="0" sz="2500" spc="4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different</a:t>
            </a:r>
            <a:r>
              <a:rPr dirty="0" sz="2500" spc="4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sensors.</a:t>
            </a:r>
            <a:r>
              <a:rPr dirty="0" sz="2500" spc="470">
                <a:latin typeface="Times New Roman"/>
                <a:cs typeface="Times New Roman"/>
              </a:rPr>
              <a:t> </a:t>
            </a:r>
            <a:r>
              <a:rPr dirty="0" sz="2500" spc="50">
                <a:latin typeface="Times New Roman"/>
                <a:cs typeface="Times New Roman"/>
              </a:rPr>
              <a:t>The </a:t>
            </a:r>
            <a:r>
              <a:rPr dirty="0" sz="2500">
                <a:latin typeface="Times New Roman"/>
                <a:cs typeface="Times New Roman"/>
              </a:rPr>
              <a:t>system</a:t>
            </a:r>
            <a:r>
              <a:rPr dirty="0" sz="2500" spc="229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uses</a:t>
            </a:r>
            <a:r>
              <a:rPr dirty="0" sz="2500" spc="229">
                <a:latin typeface="Times New Roman"/>
                <a:cs typeface="Times New Roman"/>
              </a:rPr>
              <a:t> </a:t>
            </a:r>
            <a:r>
              <a:rPr dirty="0" sz="2500" spc="125">
                <a:latin typeface="Times New Roman"/>
                <a:cs typeface="Times New Roman"/>
              </a:rPr>
              <a:t>an</a:t>
            </a:r>
            <a:r>
              <a:rPr dirty="0" sz="2500" spc="235">
                <a:latin typeface="Times New Roman"/>
                <a:cs typeface="Times New Roman"/>
              </a:rPr>
              <a:t> </a:t>
            </a:r>
            <a:r>
              <a:rPr dirty="0" sz="2500" spc="120">
                <a:latin typeface="Times New Roman"/>
                <a:cs typeface="Times New Roman"/>
              </a:rPr>
              <a:t>MQ5</a:t>
            </a:r>
            <a:r>
              <a:rPr dirty="0" sz="2500" spc="229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sensor</a:t>
            </a:r>
            <a:r>
              <a:rPr dirty="0" sz="2500" spc="229">
                <a:latin typeface="Times New Roman"/>
                <a:cs typeface="Times New Roman"/>
              </a:rPr>
              <a:t> </a:t>
            </a:r>
            <a:r>
              <a:rPr dirty="0" sz="2500" spc="120">
                <a:latin typeface="Times New Roman"/>
                <a:cs typeface="Times New Roman"/>
              </a:rPr>
              <a:t>to</a:t>
            </a:r>
            <a:r>
              <a:rPr dirty="0" sz="2500" spc="2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detect</a:t>
            </a:r>
            <a:r>
              <a:rPr dirty="0" sz="2500" spc="229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gas</a:t>
            </a:r>
            <a:r>
              <a:rPr dirty="0" sz="2500" spc="2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leakage,</a:t>
            </a:r>
            <a:r>
              <a:rPr dirty="0" sz="2500" spc="229">
                <a:latin typeface="Times New Roman"/>
                <a:cs typeface="Times New Roman"/>
              </a:rPr>
              <a:t> </a:t>
            </a:r>
            <a:r>
              <a:rPr dirty="0" sz="2500" spc="130">
                <a:latin typeface="Times New Roman"/>
                <a:cs typeface="Times New Roman"/>
              </a:rPr>
              <a:t>a</a:t>
            </a:r>
            <a:r>
              <a:rPr dirty="0" sz="2500" spc="229">
                <a:latin typeface="Times New Roman"/>
                <a:cs typeface="Times New Roman"/>
              </a:rPr>
              <a:t> </a:t>
            </a:r>
            <a:r>
              <a:rPr dirty="0" sz="2500" spc="120">
                <a:latin typeface="Times New Roman"/>
                <a:cs typeface="Times New Roman"/>
              </a:rPr>
              <a:t>DHT11</a:t>
            </a:r>
            <a:r>
              <a:rPr dirty="0" sz="2500" spc="2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sensor</a:t>
            </a:r>
            <a:r>
              <a:rPr dirty="0" sz="2500" spc="229">
                <a:latin typeface="Times New Roman"/>
                <a:cs typeface="Times New Roman"/>
              </a:rPr>
              <a:t> </a:t>
            </a:r>
            <a:r>
              <a:rPr dirty="0" sz="2500" spc="125">
                <a:latin typeface="Times New Roman"/>
                <a:cs typeface="Times New Roman"/>
              </a:rPr>
              <a:t>to</a:t>
            </a:r>
            <a:r>
              <a:rPr dirty="0" sz="2500" spc="229">
                <a:latin typeface="Times New Roman"/>
                <a:cs typeface="Times New Roman"/>
              </a:rPr>
              <a:t> </a:t>
            </a:r>
            <a:r>
              <a:rPr dirty="0" sz="2500" spc="50">
                <a:latin typeface="Times New Roman"/>
                <a:cs typeface="Times New Roman"/>
              </a:rPr>
              <a:t>measure</a:t>
            </a:r>
            <a:r>
              <a:rPr dirty="0" sz="2500" spc="235">
                <a:latin typeface="Times New Roman"/>
                <a:cs typeface="Times New Roman"/>
              </a:rPr>
              <a:t> </a:t>
            </a:r>
            <a:r>
              <a:rPr dirty="0" sz="2500" spc="75">
                <a:latin typeface="Times New Roman"/>
                <a:cs typeface="Times New Roman"/>
              </a:rPr>
              <a:t>temperature,</a:t>
            </a:r>
            <a:r>
              <a:rPr dirty="0" sz="2500" spc="229">
                <a:latin typeface="Times New Roman"/>
                <a:cs typeface="Times New Roman"/>
              </a:rPr>
              <a:t> </a:t>
            </a:r>
            <a:r>
              <a:rPr dirty="0" sz="2500" spc="130">
                <a:latin typeface="Times New Roman"/>
                <a:cs typeface="Times New Roman"/>
              </a:rPr>
              <a:t>a</a:t>
            </a:r>
            <a:r>
              <a:rPr dirty="0" sz="2500" spc="235">
                <a:latin typeface="Times New Roman"/>
                <a:cs typeface="Times New Roman"/>
              </a:rPr>
              <a:t> </a:t>
            </a:r>
            <a:r>
              <a:rPr dirty="0" sz="2500" spc="155">
                <a:latin typeface="Times New Roman"/>
                <a:cs typeface="Times New Roman"/>
              </a:rPr>
              <a:t>PIR</a:t>
            </a:r>
            <a:r>
              <a:rPr dirty="0" sz="2500" spc="229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sensor</a:t>
            </a:r>
            <a:r>
              <a:rPr dirty="0" sz="2500" spc="229">
                <a:latin typeface="Times New Roman"/>
                <a:cs typeface="Times New Roman"/>
              </a:rPr>
              <a:t> </a:t>
            </a:r>
            <a:r>
              <a:rPr dirty="0" sz="2500" spc="125">
                <a:latin typeface="Times New Roman"/>
                <a:cs typeface="Times New Roman"/>
              </a:rPr>
              <a:t>to</a:t>
            </a:r>
            <a:r>
              <a:rPr dirty="0" sz="2500" spc="23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detect </a:t>
            </a:r>
            <a:r>
              <a:rPr dirty="0" sz="2500" spc="114">
                <a:latin typeface="Times New Roman"/>
                <a:cs typeface="Times New Roman"/>
              </a:rPr>
              <a:t>human</a:t>
            </a:r>
            <a:r>
              <a:rPr dirty="0" sz="2500" spc="80">
                <a:latin typeface="Times New Roman"/>
                <a:cs typeface="Times New Roman"/>
              </a:rPr>
              <a:t> </a:t>
            </a:r>
            <a:r>
              <a:rPr dirty="0" sz="2500" spc="60">
                <a:latin typeface="Times New Roman"/>
                <a:cs typeface="Times New Roman"/>
              </a:rPr>
              <a:t>movement,</a:t>
            </a:r>
            <a:r>
              <a:rPr dirty="0" sz="2500" spc="85">
                <a:latin typeface="Times New Roman"/>
                <a:cs typeface="Times New Roman"/>
              </a:rPr>
              <a:t> </a:t>
            </a:r>
            <a:r>
              <a:rPr dirty="0" sz="2500" spc="120">
                <a:latin typeface="Times New Roman"/>
                <a:cs typeface="Times New Roman"/>
              </a:rPr>
              <a:t>and</a:t>
            </a:r>
            <a:r>
              <a:rPr dirty="0" sz="2500" spc="85">
                <a:latin typeface="Times New Roman"/>
                <a:cs typeface="Times New Roman"/>
              </a:rPr>
              <a:t> </a:t>
            </a:r>
            <a:r>
              <a:rPr dirty="0" sz="2500" spc="125">
                <a:latin typeface="Times New Roman"/>
                <a:cs typeface="Times New Roman"/>
              </a:rPr>
              <a:t>an</a:t>
            </a:r>
            <a:r>
              <a:rPr dirty="0" sz="2500" spc="85">
                <a:latin typeface="Times New Roman"/>
                <a:cs typeface="Times New Roman"/>
              </a:rPr>
              <a:t> </a:t>
            </a:r>
            <a:r>
              <a:rPr dirty="0" sz="2500" spc="204">
                <a:latin typeface="Times New Roman"/>
                <a:cs typeface="Times New Roman"/>
              </a:rPr>
              <a:t>LDR</a:t>
            </a:r>
            <a:r>
              <a:rPr dirty="0" sz="2500" spc="8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sensor</a:t>
            </a:r>
            <a:r>
              <a:rPr dirty="0" sz="2500" spc="85">
                <a:latin typeface="Times New Roman"/>
                <a:cs typeface="Times New Roman"/>
              </a:rPr>
              <a:t> </a:t>
            </a:r>
            <a:r>
              <a:rPr dirty="0" sz="2500" spc="120">
                <a:latin typeface="Times New Roman"/>
                <a:cs typeface="Times New Roman"/>
              </a:rPr>
              <a:t>to</a:t>
            </a:r>
            <a:r>
              <a:rPr dirty="0" sz="2500" spc="8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detect</a:t>
            </a:r>
            <a:r>
              <a:rPr dirty="0" sz="2500" spc="8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light</a:t>
            </a:r>
            <a:r>
              <a:rPr dirty="0" sz="2500" spc="8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intensity.</a:t>
            </a:r>
            <a:endParaRPr sz="2500">
              <a:latin typeface="Times New Roman"/>
              <a:cs typeface="Times New Roman"/>
            </a:endParaRPr>
          </a:p>
          <a:p>
            <a:pPr algn="just" marL="12700" marR="5080">
              <a:lnSpc>
                <a:spcPct val="200000"/>
              </a:lnSpc>
            </a:pPr>
            <a:r>
              <a:rPr dirty="0" sz="2500" spc="75">
                <a:latin typeface="Times New Roman"/>
                <a:cs typeface="Times New Roman"/>
              </a:rPr>
              <a:t>When</a:t>
            </a:r>
            <a:r>
              <a:rPr dirty="0" sz="2500" spc="125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gas</a:t>
            </a:r>
            <a:r>
              <a:rPr dirty="0" sz="2500" spc="125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leakage</a:t>
            </a:r>
            <a:r>
              <a:rPr dirty="0" sz="2500" spc="125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is</a:t>
            </a:r>
            <a:r>
              <a:rPr dirty="0" sz="2500" spc="125">
                <a:latin typeface="Times New Roman"/>
                <a:cs typeface="Times New Roman"/>
              </a:rPr>
              <a:t>  </a:t>
            </a:r>
            <a:r>
              <a:rPr dirty="0" sz="2500" spc="45">
                <a:latin typeface="Times New Roman"/>
                <a:cs typeface="Times New Roman"/>
              </a:rPr>
              <a:t>detected,</a:t>
            </a:r>
            <a:r>
              <a:rPr dirty="0" sz="2500" spc="125">
                <a:latin typeface="Times New Roman"/>
                <a:cs typeface="Times New Roman"/>
              </a:rPr>
              <a:t>  </a:t>
            </a:r>
            <a:r>
              <a:rPr dirty="0" sz="2500" spc="70">
                <a:latin typeface="Times New Roman"/>
                <a:cs typeface="Times New Roman"/>
              </a:rPr>
              <a:t>the</a:t>
            </a:r>
            <a:r>
              <a:rPr dirty="0" sz="2500" spc="125">
                <a:latin typeface="Times New Roman"/>
                <a:cs typeface="Times New Roman"/>
              </a:rPr>
              <a:t>  </a:t>
            </a:r>
            <a:r>
              <a:rPr dirty="0" sz="2500" spc="95">
                <a:latin typeface="Times New Roman"/>
                <a:cs typeface="Times New Roman"/>
              </a:rPr>
              <a:t>Arduino</a:t>
            </a:r>
            <a:r>
              <a:rPr dirty="0" sz="2500" spc="125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activates</a:t>
            </a:r>
            <a:r>
              <a:rPr dirty="0" sz="2500" spc="125">
                <a:latin typeface="Times New Roman"/>
                <a:cs typeface="Times New Roman"/>
              </a:rPr>
              <a:t>  </a:t>
            </a:r>
            <a:r>
              <a:rPr dirty="0" sz="2500" spc="70">
                <a:latin typeface="Times New Roman"/>
                <a:cs typeface="Times New Roman"/>
              </a:rPr>
              <a:t>the</a:t>
            </a:r>
            <a:r>
              <a:rPr dirty="0" sz="2500" spc="125">
                <a:latin typeface="Times New Roman"/>
                <a:cs typeface="Times New Roman"/>
              </a:rPr>
              <a:t>  </a:t>
            </a:r>
            <a:r>
              <a:rPr dirty="0" sz="2500" spc="55">
                <a:latin typeface="Times New Roman"/>
                <a:cs typeface="Times New Roman"/>
              </a:rPr>
              <a:t>ventilation</a:t>
            </a:r>
            <a:r>
              <a:rPr dirty="0" sz="2500" spc="125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process</a:t>
            </a:r>
            <a:r>
              <a:rPr dirty="0" sz="2500" spc="125">
                <a:latin typeface="Times New Roman"/>
                <a:cs typeface="Times New Roman"/>
              </a:rPr>
              <a:t>  </a:t>
            </a:r>
            <a:r>
              <a:rPr dirty="0" sz="2500" spc="120">
                <a:latin typeface="Times New Roman"/>
                <a:cs typeface="Times New Roman"/>
              </a:rPr>
              <a:t>to</a:t>
            </a:r>
            <a:r>
              <a:rPr dirty="0" sz="2500" spc="125">
                <a:latin typeface="Times New Roman"/>
                <a:cs typeface="Times New Roman"/>
              </a:rPr>
              <a:t>  </a:t>
            </a:r>
            <a:r>
              <a:rPr dirty="0" sz="2500" spc="55">
                <a:latin typeface="Times New Roman"/>
                <a:cs typeface="Times New Roman"/>
              </a:rPr>
              <a:t>improve</a:t>
            </a:r>
            <a:r>
              <a:rPr dirty="0" sz="2500" spc="125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safety.</a:t>
            </a:r>
            <a:r>
              <a:rPr dirty="0" sz="2500" spc="125">
                <a:latin typeface="Times New Roman"/>
                <a:cs typeface="Times New Roman"/>
              </a:rPr>
              <a:t>  </a:t>
            </a:r>
            <a:r>
              <a:rPr dirty="0" sz="2500" spc="75">
                <a:latin typeface="Times New Roman"/>
                <a:cs typeface="Times New Roman"/>
              </a:rPr>
              <a:t>The</a:t>
            </a:r>
            <a:r>
              <a:rPr dirty="0" sz="2500" spc="125">
                <a:latin typeface="Times New Roman"/>
                <a:cs typeface="Times New Roman"/>
              </a:rPr>
              <a:t>  </a:t>
            </a:r>
            <a:r>
              <a:rPr dirty="0" sz="2500" spc="-10">
                <a:latin typeface="Times New Roman"/>
                <a:cs typeface="Times New Roman"/>
              </a:rPr>
              <a:t>system </a:t>
            </a:r>
            <a:r>
              <a:rPr dirty="0" sz="2500" spc="60">
                <a:latin typeface="Times New Roman"/>
                <a:cs typeface="Times New Roman"/>
              </a:rPr>
              <a:t>continuously</a:t>
            </a:r>
            <a:r>
              <a:rPr dirty="0" sz="2500" spc="235">
                <a:latin typeface="Times New Roman"/>
                <a:cs typeface="Times New Roman"/>
              </a:rPr>
              <a:t> </a:t>
            </a:r>
            <a:r>
              <a:rPr dirty="0" sz="2500" spc="80">
                <a:latin typeface="Times New Roman"/>
                <a:cs typeface="Times New Roman"/>
              </a:rPr>
              <a:t>monitors</a:t>
            </a:r>
            <a:r>
              <a:rPr dirty="0" sz="2500" spc="240">
                <a:latin typeface="Times New Roman"/>
                <a:cs typeface="Times New Roman"/>
              </a:rPr>
              <a:t> </a:t>
            </a:r>
            <a:r>
              <a:rPr dirty="0" sz="2500" spc="70">
                <a:latin typeface="Times New Roman"/>
                <a:cs typeface="Times New Roman"/>
              </a:rPr>
              <a:t>the</a:t>
            </a:r>
            <a:r>
              <a:rPr dirty="0" sz="2500" spc="240">
                <a:latin typeface="Times New Roman"/>
                <a:cs typeface="Times New Roman"/>
              </a:rPr>
              <a:t> </a:t>
            </a:r>
            <a:r>
              <a:rPr dirty="0" sz="2500" spc="70">
                <a:latin typeface="Times New Roman"/>
                <a:cs typeface="Times New Roman"/>
              </a:rPr>
              <a:t>surroundings</a:t>
            </a:r>
            <a:r>
              <a:rPr dirty="0" sz="2500" spc="240">
                <a:latin typeface="Times New Roman"/>
                <a:cs typeface="Times New Roman"/>
              </a:rPr>
              <a:t> </a:t>
            </a:r>
            <a:r>
              <a:rPr dirty="0" sz="2500" spc="120">
                <a:latin typeface="Times New Roman"/>
                <a:cs typeface="Times New Roman"/>
              </a:rPr>
              <a:t>and</a:t>
            </a:r>
            <a:r>
              <a:rPr dirty="0" sz="2500" spc="2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helps</a:t>
            </a:r>
            <a:r>
              <a:rPr dirty="0" sz="2500" spc="240">
                <a:latin typeface="Times New Roman"/>
                <a:cs typeface="Times New Roman"/>
              </a:rPr>
              <a:t> </a:t>
            </a:r>
            <a:r>
              <a:rPr dirty="0" sz="2500" spc="55">
                <a:latin typeface="Times New Roman"/>
                <a:cs typeface="Times New Roman"/>
              </a:rPr>
              <a:t>provide</a:t>
            </a:r>
            <a:r>
              <a:rPr dirty="0" sz="2500" spc="235">
                <a:latin typeface="Times New Roman"/>
                <a:cs typeface="Times New Roman"/>
              </a:rPr>
              <a:t> </a:t>
            </a:r>
            <a:r>
              <a:rPr dirty="0" sz="2500" spc="130">
                <a:latin typeface="Times New Roman"/>
                <a:cs typeface="Times New Roman"/>
              </a:rPr>
              <a:t>a</a:t>
            </a:r>
            <a:r>
              <a:rPr dirty="0" sz="2500" spc="2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safer</a:t>
            </a:r>
            <a:r>
              <a:rPr dirty="0" sz="2500" spc="240">
                <a:latin typeface="Times New Roman"/>
                <a:cs typeface="Times New Roman"/>
              </a:rPr>
              <a:t> </a:t>
            </a:r>
            <a:r>
              <a:rPr dirty="0" sz="2500" spc="90">
                <a:latin typeface="Times New Roman"/>
                <a:cs typeface="Times New Roman"/>
              </a:rPr>
              <a:t>indoor</a:t>
            </a:r>
            <a:r>
              <a:rPr dirty="0" sz="2500" spc="240">
                <a:latin typeface="Times New Roman"/>
                <a:cs typeface="Times New Roman"/>
              </a:rPr>
              <a:t> </a:t>
            </a:r>
            <a:r>
              <a:rPr dirty="0" sz="2500" spc="60">
                <a:latin typeface="Times New Roman"/>
                <a:cs typeface="Times New Roman"/>
              </a:rPr>
              <a:t>environment.</a:t>
            </a:r>
            <a:r>
              <a:rPr dirty="0" sz="2500" spc="240">
                <a:latin typeface="Times New Roman"/>
                <a:cs typeface="Times New Roman"/>
              </a:rPr>
              <a:t> </a:t>
            </a:r>
            <a:r>
              <a:rPr dirty="0" sz="2500" spc="50">
                <a:latin typeface="Times New Roman"/>
                <a:cs typeface="Times New Roman"/>
              </a:rPr>
              <a:t>This</a:t>
            </a:r>
            <a:r>
              <a:rPr dirty="0" sz="2500" spc="240">
                <a:latin typeface="Times New Roman"/>
                <a:cs typeface="Times New Roman"/>
              </a:rPr>
              <a:t> </a:t>
            </a:r>
            <a:r>
              <a:rPr dirty="0" sz="2500" spc="55">
                <a:latin typeface="Times New Roman"/>
                <a:cs typeface="Times New Roman"/>
              </a:rPr>
              <a:t>project</a:t>
            </a:r>
            <a:r>
              <a:rPr dirty="0" sz="2500" spc="2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is</a:t>
            </a:r>
            <a:r>
              <a:rPr dirty="0" sz="2500" spc="2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simple,</a:t>
            </a:r>
            <a:r>
              <a:rPr dirty="0" sz="2500" spc="240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Times New Roman"/>
                <a:cs typeface="Times New Roman"/>
              </a:rPr>
              <a:t>low </a:t>
            </a:r>
            <a:r>
              <a:rPr dirty="0" sz="2500">
                <a:latin typeface="Times New Roman"/>
                <a:cs typeface="Times New Roman"/>
              </a:rPr>
              <a:t>cost,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 spc="120">
                <a:latin typeface="Times New Roman"/>
                <a:cs typeface="Times New Roman"/>
              </a:rPr>
              <a:t>and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 spc="45">
                <a:latin typeface="Times New Roman"/>
                <a:cs typeface="Times New Roman"/>
              </a:rPr>
              <a:t>suitable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 spc="75">
                <a:latin typeface="Times New Roman"/>
                <a:cs typeface="Times New Roman"/>
              </a:rPr>
              <a:t>for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 spc="55">
                <a:latin typeface="Times New Roman"/>
                <a:cs typeface="Times New Roman"/>
              </a:rPr>
              <a:t>homes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 spc="120">
                <a:latin typeface="Times New Roman"/>
                <a:cs typeface="Times New Roman"/>
              </a:rPr>
              <a:t>and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small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 spc="35">
                <a:latin typeface="Times New Roman"/>
                <a:cs typeface="Times New Roman"/>
              </a:rPr>
              <a:t>industries.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 h="0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494221" y="328676"/>
            <a:ext cx="3299460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INDEX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07761" y="1587531"/>
            <a:ext cx="5419725" cy="7264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0690" indent="-26987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40690" algn="l"/>
              </a:tabLst>
            </a:pPr>
            <a:r>
              <a:rPr dirty="0" sz="2500" spc="-10">
                <a:latin typeface="Times New Roman"/>
                <a:cs typeface="Times New Roman"/>
              </a:rPr>
              <a:t>INTRODUCTION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Times New Roman"/>
              <a:buAutoNum type="arabicPeriod"/>
            </a:pPr>
            <a:endParaRPr sz="2500">
              <a:latin typeface="Times New Roman"/>
              <a:cs typeface="Times New Roman"/>
            </a:endParaRPr>
          </a:p>
          <a:p>
            <a:pPr marL="440690" indent="-269875">
              <a:lnSpc>
                <a:spcPct val="100000"/>
              </a:lnSpc>
              <a:buAutoNum type="arabicPeriod"/>
              <a:tabLst>
                <a:tab pos="440690" algn="l"/>
              </a:tabLst>
            </a:pPr>
            <a:r>
              <a:rPr dirty="0" sz="2500" spc="-10">
                <a:latin typeface="Times New Roman"/>
                <a:cs typeface="Times New Roman"/>
              </a:rPr>
              <a:t>ABSTRACT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Times New Roman"/>
              <a:buAutoNum type="arabicPeriod"/>
            </a:pPr>
            <a:endParaRPr sz="2500">
              <a:latin typeface="Times New Roman"/>
              <a:cs typeface="Times New Roman"/>
            </a:endParaRPr>
          </a:p>
          <a:p>
            <a:pPr marL="440690" indent="-269875">
              <a:lnSpc>
                <a:spcPct val="100000"/>
              </a:lnSpc>
              <a:buAutoNum type="arabicPeriod"/>
              <a:tabLst>
                <a:tab pos="440690" algn="l"/>
              </a:tabLst>
            </a:pPr>
            <a:r>
              <a:rPr dirty="0" sz="2500" spc="-10">
                <a:latin typeface="Times New Roman"/>
                <a:cs typeface="Times New Roman"/>
              </a:rPr>
              <a:t>ACKNOWLEDGEMENT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Times New Roman"/>
              <a:buAutoNum type="arabicPeriod"/>
            </a:pPr>
            <a:endParaRPr sz="2500">
              <a:latin typeface="Times New Roman"/>
              <a:cs typeface="Times New Roman"/>
            </a:endParaRPr>
          </a:p>
          <a:p>
            <a:pPr marL="440690" indent="-269875">
              <a:lnSpc>
                <a:spcPct val="100000"/>
              </a:lnSpc>
              <a:buAutoNum type="arabicPeriod"/>
              <a:tabLst>
                <a:tab pos="440690" algn="l"/>
              </a:tabLst>
            </a:pPr>
            <a:r>
              <a:rPr dirty="0" sz="2500">
                <a:latin typeface="Times New Roman"/>
                <a:cs typeface="Times New Roman"/>
              </a:rPr>
              <a:t>PROBLEM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STATEMENT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Times New Roman"/>
              <a:buAutoNum type="arabicPeriod"/>
            </a:pPr>
            <a:endParaRPr sz="2500">
              <a:latin typeface="Times New Roman"/>
              <a:cs typeface="Times New Roman"/>
            </a:endParaRPr>
          </a:p>
          <a:p>
            <a:pPr marL="440690" indent="-269875">
              <a:lnSpc>
                <a:spcPct val="100000"/>
              </a:lnSpc>
              <a:buAutoNum type="arabicPeriod"/>
              <a:tabLst>
                <a:tab pos="440690" algn="l"/>
              </a:tabLst>
            </a:pPr>
            <a:r>
              <a:rPr dirty="0" sz="2500" spc="-10">
                <a:latin typeface="Times New Roman"/>
                <a:cs typeface="Times New Roman"/>
              </a:rPr>
              <a:t>OBJECTIVE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Times New Roman"/>
              <a:buAutoNum type="arabicPeriod"/>
            </a:pPr>
            <a:endParaRPr sz="2500">
              <a:latin typeface="Times New Roman"/>
              <a:cs typeface="Times New Roman"/>
            </a:endParaRPr>
          </a:p>
          <a:p>
            <a:pPr marL="440690" indent="-269875">
              <a:lnSpc>
                <a:spcPct val="100000"/>
              </a:lnSpc>
              <a:buAutoNum type="arabicPeriod"/>
              <a:tabLst>
                <a:tab pos="440690" algn="l"/>
              </a:tabLst>
            </a:pPr>
            <a:r>
              <a:rPr dirty="0" sz="2500">
                <a:latin typeface="Times New Roman"/>
                <a:cs typeface="Times New Roman"/>
              </a:rPr>
              <a:t>SYSTEM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ARCHITECTURE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Times New Roman"/>
              <a:buAutoNum type="arabicPeriod"/>
            </a:pPr>
            <a:endParaRPr sz="2500">
              <a:latin typeface="Times New Roman"/>
              <a:cs typeface="Times New Roman"/>
            </a:endParaRPr>
          </a:p>
          <a:p>
            <a:pPr marL="440690" indent="-269875">
              <a:lnSpc>
                <a:spcPct val="100000"/>
              </a:lnSpc>
              <a:buAutoNum type="arabicPeriod"/>
              <a:tabLst>
                <a:tab pos="440690" algn="l"/>
              </a:tabLst>
            </a:pPr>
            <a:r>
              <a:rPr dirty="0" sz="2500">
                <a:latin typeface="Times New Roman"/>
                <a:cs typeface="Times New Roman"/>
              </a:rPr>
              <a:t>COMPONENTS</a:t>
            </a:r>
            <a:r>
              <a:rPr dirty="0" sz="2500" spc="-75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Times New Roman"/>
                <a:cs typeface="Times New Roman"/>
              </a:rPr>
              <a:t>USED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Times New Roman"/>
              <a:buAutoNum type="arabicPeriod"/>
            </a:pPr>
            <a:endParaRPr sz="2500">
              <a:latin typeface="Times New Roman"/>
              <a:cs typeface="Times New Roman"/>
            </a:endParaRPr>
          </a:p>
          <a:p>
            <a:pPr marL="440690" indent="-269875">
              <a:lnSpc>
                <a:spcPct val="100000"/>
              </a:lnSpc>
              <a:buAutoNum type="arabicPeriod"/>
              <a:tabLst>
                <a:tab pos="440690" algn="l"/>
              </a:tabLst>
            </a:pPr>
            <a:r>
              <a:rPr dirty="0" sz="2500">
                <a:latin typeface="Times New Roman"/>
                <a:cs typeface="Times New Roman"/>
              </a:rPr>
              <a:t>WORKING</a:t>
            </a:r>
            <a:r>
              <a:rPr dirty="0" sz="2500" spc="-6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PRINCIPLE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Times New Roman"/>
              <a:buAutoNum type="arabicPeriod"/>
            </a:pPr>
            <a:endParaRPr sz="2500">
              <a:latin typeface="Times New Roman"/>
              <a:cs typeface="Times New Roman"/>
            </a:endParaRPr>
          </a:p>
          <a:p>
            <a:pPr marL="440690" indent="-269875">
              <a:lnSpc>
                <a:spcPct val="100000"/>
              </a:lnSpc>
              <a:buAutoNum type="arabicPeriod"/>
              <a:tabLst>
                <a:tab pos="440690" algn="l"/>
              </a:tabLst>
            </a:pPr>
            <a:r>
              <a:rPr dirty="0" sz="2500">
                <a:latin typeface="Times New Roman"/>
                <a:cs typeface="Times New Roman"/>
              </a:rPr>
              <a:t>ADVANTAGES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&amp;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APPLICATIONS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Times New Roman"/>
              <a:buAutoNum type="arabicPeriod"/>
            </a:pPr>
            <a:endParaRPr sz="2500">
              <a:latin typeface="Times New Roman"/>
              <a:cs typeface="Times New Roman"/>
            </a:endParaRPr>
          </a:p>
          <a:p>
            <a:pPr marL="440055" indent="-427355">
              <a:lnSpc>
                <a:spcPct val="100000"/>
              </a:lnSpc>
              <a:buAutoNum type="arabicPeriod"/>
              <a:tabLst>
                <a:tab pos="440055" algn="l"/>
              </a:tabLst>
            </a:pPr>
            <a:r>
              <a:rPr dirty="0" sz="2500">
                <a:latin typeface="Times New Roman"/>
                <a:cs typeface="Times New Roman"/>
              </a:rPr>
              <a:t>FURTURE</a:t>
            </a:r>
            <a:r>
              <a:rPr dirty="0" sz="2500" spc="-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SCOPE</a:t>
            </a:r>
            <a:r>
              <a:rPr dirty="0" sz="2500" spc="-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&amp;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CONCLUSION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894" y="7494805"/>
            <a:ext cx="3116185" cy="279219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 h="0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0125" rIns="0" bIns="0" rtlCol="0" vert="horz">
            <a:spAutoFit/>
          </a:bodyPr>
          <a:lstStyle/>
          <a:p>
            <a:pPr marL="535305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3F3C3D"/>
                </a:solidFill>
              </a:rPr>
              <a:t>ACKNOWLEDGMENT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08813" y="2622581"/>
            <a:ext cx="14875510" cy="421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Times New Roman"/>
                <a:cs typeface="Times New Roman"/>
              </a:rPr>
              <a:t>We</a:t>
            </a:r>
            <a:r>
              <a:rPr dirty="0" sz="2500" spc="40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sincerely</a:t>
            </a:r>
            <a:r>
              <a:rPr dirty="0" sz="2500" spc="409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thank</a:t>
            </a:r>
            <a:r>
              <a:rPr dirty="0" sz="2500" spc="409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our</a:t>
            </a:r>
            <a:r>
              <a:rPr dirty="0" sz="2500" spc="409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project</a:t>
            </a:r>
            <a:r>
              <a:rPr dirty="0" sz="2500" spc="409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guide,</a:t>
            </a:r>
            <a:r>
              <a:rPr dirty="0" sz="2500" spc="409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department</a:t>
            </a:r>
            <a:r>
              <a:rPr dirty="0" sz="2500" spc="409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staff,</a:t>
            </a:r>
            <a:r>
              <a:rPr dirty="0" sz="2500" spc="409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409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institution</a:t>
            </a:r>
            <a:r>
              <a:rPr dirty="0" sz="2500" spc="409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for</a:t>
            </a:r>
            <a:r>
              <a:rPr dirty="0" sz="2500" spc="409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their</a:t>
            </a:r>
            <a:r>
              <a:rPr dirty="0" sz="2500" spc="409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valuable</a:t>
            </a:r>
            <a:r>
              <a:rPr dirty="0" sz="2500" spc="409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support</a:t>
            </a:r>
            <a:r>
              <a:rPr dirty="0" sz="2500" spc="409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409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guidance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500">
                <a:latin typeface="Times New Roman"/>
                <a:cs typeface="Times New Roman"/>
              </a:rPr>
              <a:t>throughout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the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completion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of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this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mini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project.</a:t>
            </a:r>
            <a:endParaRPr sz="2500">
              <a:latin typeface="Times New Roman"/>
              <a:cs typeface="Times New Roman"/>
            </a:endParaRPr>
          </a:p>
          <a:p>
            <a:pPr marL="12700" marR="5080">
              <a:lnSpc>
                <a:spcPct val="200000"/>
              </a:lnSpc>
            </a:pPr>
            <a:r>
              <a:rPr dirty="0" sz="2500">
                <a:latin typeface="Times New Roman"/>
                <a:cs typeface="Times New Roman"/>
              </a:rPr>
              <a:t>We</a:t>
            </a:r>
            <a:r>
              <a:rPr dirty="0" sz="2500" spc="1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also</a:t>
            </a:r>
            <a:r>
              <a:rPr dirty="0" sz="2500" spc="1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thank</a:t>
            </a:r>
            <a:r>
              <a:rPr dirty="0" sz="2500" spc="1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our</a:t>
            </a:r>
            <a:r>
              <a:rPr dirty="0" sz="2500" spc="1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teammates</a:t>
            </a:r>
            <a:r>
              <a:rPr dirty="0" sz="2500" spc="1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for</a:t>
            </a:r>
            <a:r>
              <a:rPr dirty="0" sz="2500" spc="1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their</a:t>
            </a:r>
            <a:r>
              <a:rPr dirty="0" sz="2500" spc="1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cooperation</a:t>
            </a:r>
            <a:r>
              <a:rPr dirty="0" sz="2500" spc="1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1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teamwork</a:t>
            </a:r>
            <a:r>
              <a:rPr dirty="0" sz="2500" spc="1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in</a:t>
            </a:r>
            <a:r>
              <a:rPr dirty="0" sz="2500" spc="1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developing</a:t>
            </a:r>
            <a:r>
              <a:rPr dirty="0" sz="2500" spc="1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the</a:t>
            </a:r>
            <a:r>
              <a:rPr dirty="0" sz="2500" spc="1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“Arduino</a:t>
            </a:r>
            <a:r>
              <a:rPr dirty="0" sz="2500" spc="13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Based</a:t>
            </a:r>
            <a:r>
              <a:rPr dirty="0" sz="2500" spc="1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Gas</a:t>
            </a:r>
            <a:r>
              <a:rPr dirty="0" sz="2500" spc="13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Leakage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Ventilation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System”.</a:t>
            </a:r>
            <a:endParaRPr sz="2500">
              <a:latin typeface="Times New Roman"/>
              <a:cs typeface="Times New Roman"/>
            </a:endParaRPr>
          </a:p>
          <a:p>
            <a:pPr marL="12700" marR="5080">
              <a:lnSpc>
                <a:spcPct val="200000"/>
              </a:lnSpc>
            </a:pPr>
            <a:r>
              <a:rPr dirty="0" sz="2500">
                <a:latin typeface="Times New Roman"/>
                <a:cs typeface="Times New Roman"/>
              </a:rPr>
              <a:t>Finally,</a:t>
            </a:r>
            <a:r>
              <a:rPr dirty="0" sz="2500" spc="15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we</a:t>
            </a:r>
            <a:r>
              <a:rPr dirty="0" sz="2500" spc="20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express</a:t>
            </a:r>
            <a:r>
              <a:rPr dirty="0" sz="2500" spc="15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our</a:t>
            </a:r>
            <a:r>
              <a:rPr dirty="0" sz="2500" spc="20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gratitude</a:t>
            </a:r>
            <a:r>
              <a:rPr dirty="0" sz="2500" spc="15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to</a:t>
            </a:r>
            <a:r>
              <a:rPr dirty="0" sz="2500" spc="20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everyone</a:t>
            </a:r>
            <a:r>
              <a:rPr dirty="0" sz="2500" spc="15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who</a:t>
            </a:r>
            <a:r>
              <a:rPr dirty="0" sz="2500" spc="20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helped</a:t>
            </a:r>
            <a:r>
              <a:rPr dirty="0" sz="2500" spc="20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directly</a:t>
            </a:r>
            <a:r>
              <a:rPr dirty="0" sz="2500" spc="15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20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indirectly</a:t>
            </a:r>
            <a:r>
              <a:rPr dirty="0" sz="2500" spc="15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in</a:t>
            </a:r>
            <a:r>
              <a:rPr dirty="0" sz="2500" spc="20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completing</a:t>
            </a:r>
            <a:r>
              <a:rPr dirty="0" sz="2500" spc="15">
                <a:latin typeface="Times New Roman"/>
                <a:cs typeface="Times New Roman"/>
              </a:rPr>
              <a:t>  </a:t>
            </a:r>
            <a:r>
              <a:rPr dirty="0" sz="2500">
                <a:latin typeface="Times New Roman"/>
                <a:cs typeface="Times New Roman"/>
              </a:rPr>
              <a:t>this</a:t>
            </a:r>
            <a:r>
              <a:rPr dirty="0" sz="2500" spc="20">
                <a:latin typeface="Times New Roman"/>
                <a:cs typeface="Times New Roman"/>
              </a:rPr>
              <a:t>  </a:t>
            </a:r>
            <a:r>
              <a:rPr dirty="0" sz="2500" spc="-10">
                <a:latin typeface="Times New Roman"/>
                <a:cs typeface="Times New Roman"/>
              </a:rPr>
              <a:t>project successfully.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 h="0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0889" y="3019015"/>
            <a:ext cx="95250" cy="952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0889" y="3781016"/>
            <a:ext cx="95250" cy="95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0889" y="4543015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0889" y="5305015"/>
            <a:ext cx="95250" cy="952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92565" y="2822197"/>
            <a:ext cx="11821160" cy="2692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Times New Roman"/>
                <a:cs typeface="Times New Roman"/>
              </a:rPr>
              <a:t>Gas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leakage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can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cause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serious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safety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hazards,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fires,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health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risks.</a:t>
            </a:r>
            <a:endParaRPr sz="2500">
              <a:latin typeface="Times New Roman"/>
              <a:cs typeface="Times New Roman"/>
            </a:endParaRPr>
          </a:p>
          <a:p>
            <a:pPr marL="12700" marR="2578100">
              <a:lnSpc>
                <a:spcPct val="200000"/>
              </a:lnSpc>
            </a:pPr>
            <a:r>
              <a:rPr dirty="0" sz="2500">
                <a:latin typeface="Times New Roman"/>
                <a:cs typeface="Times New Roman"/>
              </a:rPr>
              <a:t>Existing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systems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often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rely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on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manual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monitoring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delayed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response. </a:t>
            </a:r>
            <a:r>
              <a:rPr dirty="0" sz="2500">
                <a:latin typeface="Times New Roman"/>
                <a:cs typeface="Times New Roman"/>
              </a:rPr>
              <a:t>Lack</a:t>
            </a:r>
            <a:r>
              <a:rPr dirty="0" sz="2500" spc="-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of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continuous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environmental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monitoring</a:t>
            </a:r>
            <a:r>
              <a:rPr dirty="0" sz="2500" spc="-7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reduces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overall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safety.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500">
                <a:latin typeface="Times New Roman"/>
                <a:cs typeface="Times New Roman"/>
              </a:rPr>
              <a:t>A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low-</a:t>
            </a:r>
            <a:r>
              <a:rPr dirty="0" sz="2500">
                <a:latin typeface="Times New Roman"/>
                <a:cs typeface="Times New Roman"/>
              </a:rPr>
              <a:t>cost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automated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system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is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needed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to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detect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gas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leaks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activate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ventilation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promptly.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 h="0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2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310"/>
              <a:t> </a:t>
            </a:r>
            <a:r>
              <a:rPr dirty="0" spc="-10"/>
              <a:t>STATEMENT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61535" cy="3632200"/>
            <a:chOff x="0" y="0"/>
            <a:chExt cx="4661535" cy="3632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6788" y="2774915"/>
              <a:ext cx="95250" cy="952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6788" y="3536914"/>
              <a:ext cx="95250" cy="95249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6788" y="4298914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6788" y="5060914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6788" y="5822914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6788" y="6584914"/>
            <a:ext cx="95250" cy="952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348464" y="2578096"/>
            <a:ext cx="6020435" cy="421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Times New Roman"/>
                <a:cs typeface="Times New Roman"/>
              </a:rPr>
              <a:t>Detect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gas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leakage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using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MQ5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sensor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500">
                <a:latin typeface="Times New Roman"/>
                <a:cs typeface="Times New Roman"/>
              </a:rPr>
              <a:t>Monitor</a:t>
            </a:r>
            <a:r>
              <a:rPr dirty="0" sz="2500" spc="-8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temperature</a:t>
            </a:r>
            <a:r>
              <a:rPr dirty="0" sz="2500" spc="-8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using</a:t>
            </a:r>
            <a:r>
              <a:rPr dirty="0" sz="2500" spc="-8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DHT11</a:t>
            </a:r>
            <a:endParaRPr sz="2500">
              <a:latin typeface="Times New Roman"/>
              <a:cs typeface="Times New Roman"/>
            </a:endParaRPr>
          </a:p>
          <a:p>
            <a:pPr marL="12700" marR="5080">
              <a:lnSpc>
                <a:spcPct val="200000"/>
              </a:lnSpc>
            </a:pPr>
            <a:r>
              <a:rPr dirty="0" sz="2500">
                <a:latin typeface="Times New Roman"/>
                <a:cs typeface="Times New Roman"/>
              </a:rPr>
              <a:t>Detect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human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movement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using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PIR</a:t>
            </a:r>
            <a:r>
              <a:rPr dirty="0" sz="2500" spc="-6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sensor </a:t>
            </a:r>
            <a:r>
              <a:rPr dirty="0" sz="2500">
                <a:latin typeface="Times New Roman"/>
                <a:cs typeface="Times New Roman"/>
              </a:rPr>
              <a:t>Detect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whether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it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is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day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or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night</a:t>
            </a:r>
            <a:r>
              <a:rPr dirty="0" sz="2500" spc="-3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using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Times New Roman"/>
                <a:cs typeface="Times New Roman"/>
              </a:rPr>
              <a:t>LDR </a:t>
            </a:r>
            <a:r>
              <a:rPr dirty="0" sz="2500" spc="-10">
                <a:latin typeface="Times New Roman"/>
                <a:cs typeface="Times New Roman"/>
              </a:rPr>
              <a:t>Low-</a:t>
            </a:r>
            <a:r>
              <a:rPr dirty="0" sz="2500">
                <a:latin typeface="Times New Roman"/>
                <a:cs typeface="Times New Roman"/>
              </a:rPr>
              <a:t>cost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Times New Roman"/>
                <a:cs typeface="Times New Roman"/>
              </a:rPr>
              <a:t>easy-</a:t>
            </a:r>
            <a:r>
              <a:rPr dirty="0" sz="2500" spc="-10">
                <a:latin typeface="Times New Roman"/>
                <a:cs typeface="Times New Roman"/>
              </a:rPr>
              <a:t>to-</a:t>
            </a:r>
            <a:r>
              <a:rPr dirty="0" sz="2500">
                <a:latin typeface="Times New Roman"/>
                <a:cs typeface="Times New Roman"/>
              </a:rPr>
              <a:t>implement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safety</a:t>
            </a:r>
            <a:r>
              <a:rPr dirty="0" sz="2500" spc="-4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system </a:t>
            </a:r>
            <a:r>
              <a:rPr dirty="0" sz="2500">
                <a:latin typeface="Times New Roman"/>
                <a:cs typeface="Times New Roman"/>
              </a:rPr>
              <a:t>Suitable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for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homes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and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small</a:t>
            </a:r>
            <a:r>
              <a:rPr dirty="0" sz="2500" spc="-5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industries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 h="0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2620" rIns="0" bIns="0" rtlCol="0" vert="horz">
            <a:spAutoFit/>
          </a:bodyPr>
          <a:lstStyle/>
          <a:p>
            <a:pPr marL="267906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OBJECTIVES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0064" y="200857"/>
            <a:ext cx="14839949" cy="98869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61539" cy="353341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513737" y="0"/>
            <a:ext cx="15259050" cy="10287000"/>
            <a:chOff x="1513737" y="0"/>
            <a:chExt cx="15259050" cy="10287000"/>
          </a:xfrm>
        </p:grpSpPr>
        <p:sp>
          <p:nvSpPr>
            <p:cNvPr id="5" name="object 5"/>
            <p:cNvSpPr/>
            <p:nvPr/>
          </p:nvSpPr>
          <p:spPr>
            <a:xfrm>
              <a:off x="4541414" y="9464179"/>
              <a:ext cx="11673205" cy="0"/>
            </a:xfrm>
            <a:custGeom>
              <a:avLst/>
              <a:gdLst/>
              <a:ahLst/>
              <a:cxnLst/>
              <a:rect l="l" t="t" r="r" b="b"/>
              <a:pathLst>
                <a:path w="11673205" h="0">
                  <a:moveTo>
                    <a:pt x="0" y="0"/>
                  </a:moveTo>
                  <a:lnTo>
                    <a:pt x="11672840" y="0"/>
                  </a:lnTo>
                </a:path>
              </a:pathLst>
            </a:custGeom>
            <a:ln w="9524">
              <a:solidFill>
                <a:srgbClr val="5353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3737" y="0"/>
              <a:ext cx="15259049" cy="102869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61535" cy="3533775"/>
            <a:chOff x="0" y="0"/>
            <a:chExt cx="4661535" cy="35337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2312" y="2392210"/>
              <a:ext cx="90239" cy="902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2312" y="3174287"/>
              <a:ext cx="90239" cy="90239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2312" y="3956364"/>
            <a:ext cx="90239" cy="902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2312" y="4738441"/>
            <a:ext cx="90239" cy="902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2312" y="5520518"/>
            <a:ext cx="90239" cy="9023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22312" y="6302595"/>
            <a:ext cx="90239" cy="9023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122312" y="7084671"/>
            <a:ext cx="170815" cy="1724660"/>
            <a:chOff x="2122312" y="7084671"/>
            <a:chExt cx="170815" cy="172466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2312" y="7084671"/>
              <a:ext cx="90239" cy="9023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22312" y="7866748"/>
              <a:ext cx="90239" cy="9023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82472" y="8698958"/>
              <a:ext cx="110292" cy="11029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361844" y="2184593"/>
            <a:ext cx="13452475" cy="6774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>
                <a:latin typeface="Times New Roman"/>
                <a:cs typeface="Times New Roman"/>
              </a:rPr>
              <a:t>The</a:t>
            </a:r>
            <a:r>
              <a:rPr dirty="0" sz="2550" spc="-4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MQ5</a:t>
            </a:r>
            <a:r>
              <a:rPr dirty="0" sz="2550" spc="-4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sensor</a:t>
            </a:r>
            <a:r>
              <a:rPr dirty="0" sz="2550" spc="-4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continuously</a:t>
            </a:r>
            <a:r>
              <a:rPr dirty="0" sz="2550" spc="-4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monitors</a:t>
            </a:r>
            <a:r>
              <a:rPr dirty="0" sz="2550" spc="-4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the</a:t>
            </a:r>
            <a:r>
              <a:rPr dirty="0" sz="2550" spc="-3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environment</a:t>
            </a:r>
            <a:r>
              <a:rPr dirty="0" sz="2550" spc="-4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for</a:t>
            </a:r>
            <a:r>
              <a:rPr dirty="0" sz="2550" spc="-4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gas</a:t>
            </a:r>
            <a:r>
              <a:rPr dirty="0" sz="2550" spc="-40">
                <a:latin typeface="Times New Roman"/>
                <a:cs typeface="Times New Roman"/>
              </a:rPr>
              <a:t> </a:t>
            </a:r>
            <a:r>
              <a:rPr dirty="0" sz="2550" spc="-10">
                <a:latin typeface="Times New Roman"/>
                <a:cs typeface="Times New Roman"/>
              </a:rPr>
              <a:t>leakage.</a:t>
            </a:r>
            <a:endParaRPr sz="2550">
              <a:latin typeface="Times New Roman"/>
              <a:cs typeface="Times New Roman"/>
            </a:endParaRPr>
          </a:p>
          <a:p>
            <a:pPr marL="12700" marR="5296535">
              <a:lnSpc>
                <a:spcPct val="201200"/>
              </a:lnSpc>
            </a:pPr>
            <a:r>
              <a:rPr dirty="0" sz="2550">
                <a:latin typeface="Times New Roman"/>
                <a:cs typeface="Times New Roman"/>
              </a:rPr>
              <a:t>The</a:t>
            </a:r>
            <a:r>
              <a:rPr dirty="0" sz="2550" spc="-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DHT11</a:t>
            </a:r>
            <a:r>
              <a:rPr dirty="0" sz="2550" spc="-6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sensor</a:t>
            </a:r>
            <a:r>
              <a:rPr dirty="0" sz="2550" spc="-6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measures</a:t>
            </a:r>
            <a:r>
              <a:rPr dirty="0" sz="2550" spc="-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temperature</a:t>
            </a:r>
            <a:r>
              <a:rPr dirty="0" sz="2550" spc="-6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and</a:t>
            </a:r>
            <a:r>
              <a:rPr dirty="0" sz="2550" spc="-6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humidity</a:t>
            </a:r>
            <a:r>
              <a:rPr dirty="0" sz="2550" spc="-60">
                <a:latin typeface="Times New Roman"/>
                <a:cs typeface="Times New Roman"/>
              </a:rPr>
              <a:t> </a:t>
            </a:r>
            <a:r>
              <a:rPr dirty="0" sz="2550" spc="-10">
                <a:latin typeface="Times New Roman"/>
                <a:cs typeface="Times New Roman"/>
              </a:rPr>
              <a:t>levels. </a:t>
            </a:r>
            <a:r>
              <a:rPr dirty="0" sz="2550">
                <a:latin typeface="Times New Roman"/>
                <a:cs typeface="Times New Roman"/>
              </a:rPr>
              <a:t>The</a:t>
            </a:r>
            <a:r>
              <a:rPr dirty="0" sz="2550" spc="-4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PIR</a:t>
            </a:r>
            <a:r>
              <a:rPr dirty="0" sz="2550" spc="-4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sensor</a:t>
            </a:r>
            <a:r>
              <a:rPr dirty="0" sz="2550" spc="-4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detects</a:t>
            </a:r>
            <a:r>
              <a:rPr dirty="0" sz="2550" spc="-3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human</a:t>
            </a:r>
            <a:r>
              <a:rPr dirty="0" sz="2550" spc="-4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movement</a:t>
            </a:r>
            <a:r>
              <a:rPr dirty="0" sz="2550" spc="-4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near</a:t>
            </a:r>
            <a:r>
              <a:rPr dirty="0" sz="2550" spc="-3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the</a:t>
            </a:r>
            <a:r>
              <a:rPr dirty="0" sz="2550" spc="-40">
                <a:latin typeface="Times New Roman"/>
                <a:cs typeface="Times New Roman"/>
              </a:rPr>
              <a:t> </a:t>
            </a:r>
            <a:r>
              <a:rPr dirty="0" sz="2550" spc="-10">
                <a:latin typeface="Times New Roman"/>
                <a:cs typeface="Times New Roman"/>
              </a:rPr>
              <a:t>system.</a:t>
            </a:r>
            <a:endParaRPr sz="2550">
              <a:latin typeface="Times New Roman"/>
              <a:cs typeface="Times New Roman"/>
            </a:endParaRPr>
          </a:p>
          <a:p>
            <a:pPr marL="12700" marR="6226175">
              <a:lnSpc>
                <a:spcPct val="201200"/>
              </a:lnSpc>
            </a:pPr>
            <a:r>
              <a:rPr dirty="0" sz="2550">
                <a:latin typeface="Times New Roman"/>
                <a:cs typeface="Times New Roman"/>
              </a:rPr>
              <a:t>The</a:t>
            </a:r>
            <a:r>
              <a:rPr dirty="0" sz="2550" spc="-4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LDR</a:t>
            </a:r>
            <a:r>
              <a:rPr dirty="0" sz="2550" spc="-4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sensor</a:t>
            </a:r>
            <a:r>
              <a:rPr dirty="0" sz="2550" spc="-4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detects</a:t>
            </a:r>
            <a:r>
              <a:rPr dirty="0" sz="2550" spc="-4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the</a:t>
            </a:r>
            <a:r>
              <a:rPr dirty="0" sz="2550" spc="-4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surrounding</a:t>
            </a:r>
            <a:r>
              <a:rPr dirty="0" sz="2550" spc="-3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light</a:t>
            </a:r>
            <a:r>
              <a:rPr dirty="0" sz="2550" spc="-40">
                <a:latin typeface="Times New Roman"/>
                <a:cs typeface="Times New Roman"/>
              </a:rPr>
              <a:t> </a:t>
            </a:r>
            <a:r>
              <a:rPr dirty="0" sz="2550" spc="-10">
                <a:latin typeface="Times New Roman"/>
                <a:cs typeface="Times New Roman"/>
              </a:rPr>
              <a:t>intensity. </a:t>
            </a:r>
            <a:r>
              <a:rPr dirty="0" sz="2550">
                <a:latin typeface="Times New Roman"/>
                <a:cs typeface="Times New Roman"/>
              </a:rPr>
              <a:t>All</a:t>
            </a:r>
            <a:r>
              <a:rPr dirty="0" sz="2550" spc="-4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sensor</a:t>
            </a:r>
            <a:r>
              <a:rPr dirty="0" sz="2550" spc="-2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data</a:t>
            </a:r>
            <a:r>
              <a:rPr dirty="0" sz="2550" spc="-2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is</a:t>
            </a:r>
            <a:r>
              <a:rPr dirty="0" sz="2550" spc="-2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sent</a:t>
            </a:r>
            <a:r>
              <a:rPr dirty="0" sz="2550" spc="-2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to</a:t>
            </a:r>
            <a:r>
              <a:rPr dirty="0" sz="2550" spc="-25">
                <a:latin typeface="Times New Roman"/>
                <a:cs typeface="Times New Roman"/>
              </a:rPr>
              <a:t> </a:t>
            </a:r>
            <a:r>
              <a:rPr dirty="0" sz="2550" spc="-10">
                <a:latin typeface="Times New Roman"/>
                <a:cs typeface="Times New Roman"/>
              </a:rPr>
              <a:t>the</a:t>
            </a:r>
            <a:r>
              <a:rPr dirty="0" sz="2550" spc="-15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Arduino</a:t>
            </a:r>
            <a:r>
              <a:rPr dirty="0" sz="2550" spc="-25">
                <a:latin typeface="Times New Roman"/>
                <a:cs typeface="Times New Roman"/>
              </a:rPr>
              <a:t> </a:t>
            </a:r>
            <a:r>
              <a:rPr dirty="0" sz="2550" spc="-10">
                <a:latin typeface="Times New Roman"/>
                <a:cs typeface="Times New Roman"/>
              </a:rPr>
              <a:t>controller.</a:t>
            </a:r>
            <a:endParaRPr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550" spc="-10">
                <a:latin typeface="Times New Roman"/>
                <a:cs typeface="Times New Roman"/>
              </a:rPr>
              <a:t>The</a:t>
            </a:r>
            <a:r>
              <a:rPr dirty="0" sz="2550" spc="-15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Arduino</a:t>
            </a:r>
            <a:r>
              <a:rPr dirty="0" sz="2550" spc="-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processes</a:t>
            </a:r>
            <a:r>
              <a:rPr dirty="0" sz="2550" spc="-4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the</a:t>
            </a:r>
            <a:r>
              <a:rPr dirty="0" sz="2550" spc="-4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received</a:t>
            </a:r>
            <a:r>
              <a:rPr dirty="0" sz="2550" spc="-4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sensor</a:t>
            </a:r>
            <a:r>
              <a:rPr dirty="0" sz="2550" spc="-45">
                <a:latin typeface="Times New Roman"/>
                <a:cs typeface="Times New Roman"/>
              </a:rPr>
              <a:t> </a:t>
            </a:r>
            <a:r>
              <a:rPr dirty="0" sz="2550" spc="-10">
                <a:latin typeface="Times New Roman"/>
                <a:cs typeface="Times New Roman"/>
              </a:rPr>
              <a:t>values.</a:t>
            </a: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ct val="201200"/>
              </a:lnSpc>
            </a:pPr>
            <a:r>
              <a:rPr dirty="0" sz="2550">
                <a:latin typeface="Times New Roman"/>
                <a:cs typeface="Times New Roman"/>
              </a:rPr>
              <a:t>If</a:t>
            </a:r>
            <a:r>
              <a:rPr dirty="0" sz="2550" spc="-5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gas</a:t>
            </a:r>
            <a:r>
              <a:rPr dirty="0" sz="2550" spc="-5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leakage</a:t>
            </a:r>
            <a:r>
              <a:rPr dirty="0" sz="2550" spc="-5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is</a:t>
            </a:r>
            <a:r>
              <a:rPr dirty="0" sz="2550" spc="-5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detected</a:t>
            </a:r>
            <a:r>
              <a:rPr dirty="0" sz="2550" spc="-5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above</a:t>
            </a:r>
            <a:r>
              <a:rPr dirty="0" sz="2550" spc="-4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the</a:t>
            </a:r>
            <a:r>
              <a:rPr dirty="0" sz="2550" spc="-5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set</a:t>
            </a:r>
            <a:r>
              <a:rPr dirty="0" sz="2550" spc="-5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limit,</a:t>
            </a:r>
            <a:r>
              <a:rPr dirty="0" sz="2550" spc="-5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the</a:t>
            </a:r>
            <a:r>
              <a:rPr dirty="0" sz="2550" spc="-5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system</a:t>
            </a:r>
            <a:r>
              <a:rPr dirty="0" sz="2550" spc="-5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activates</a:t>
            </a:r>
            <a:r>
              <a:rPr dirty="0" sz="2550" spc="-5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the</a:t>
            </a:r>
            <a:r>
              <a:rPr dirty="0" sz="2550" spc="-4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ventilation</a:t>
            </a:r>
            <a:r>
              <a:rPr dirty="0" sz="2550" spc="-5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process</a:t>
            </a:r>
            <a:r>
              <a:rPr dirty="0" sz="2550" spc="-50">
                <a:latin typeface="Times New Roman"/>
                <a:cs typeface="Times New Roman"/>
              </a:rPr>
              <a:t> </a:t>
            </a:r>
            <a:r>
              <a:rPr dirty="0" sz="2550" spc="-10">
                <a:latin typeface="Times New Roman"/>
                <a:cs typeface="Times New Roman"/>
              </a:rPr>
              <a:t>automatically. </a:t>
            </a:r>
            <a:r>
              <a:rPr dirty="0" sz="2550">
                <a:latin typeface="Times New Roman"/>
                <a:cs typeface="Times New Roman"/>
              </a:rPr>
              <a:t>The</a:t>
            </a:r>
            <a:r>
              <a:rPr dirty="0" sz="2550" spc="-5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system</a:t>
            </a:r>
            <a:r>
              <a:rPr dirty="0" sz="2550" spc="-4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continues</a:t>
            </a:r>
            <a:r>
              <a:rPr dirty="0" sz="2550" spc="-5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monitoring</a:t>
            </a:r>
            <a:r>
              <a:rPr dirty="0" sz="2550" spc="-4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until</a:t>
            </a:r>
            <a:r>
              <a:rPr dirty="0" sz="2550" spc="-4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the</a:t>
            </a:r>
            <a:r>
              <a:rPr dirty="0" sz="2550" spc="-5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gas</a:t>
            </a:r>
            <a:r>
              <a:rPr dirty="0" sz="2550" spc="-4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level</a:t>
            </a:r>
            <a:r>
              <a:rPr dirty="0" sz="2550" spc="-4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becomes</a:t>
            </a:r>
            <a:r>
              <a:rPr dirty="0" sz="2550" spc="-50">
                <a:latin typeface="Times New Roman"/>
                <a:cs typeface="Times New Roman"/>
              </a:rPr>
              <a:t> </a:t>
            </a:r>
            <a:r>
              <a:rPr dirty="0" sz="2550" spc="-10">
                <a:latin typeface="Times New Roman"/>
                <a:cs typeface="Times New Roman"/>
              </a:rPr>
              <a:t>normal.</a:t>
            </a:r>
            <a:endParaRPr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2550">
              <a:latin typeface="Times New Roman"/>
              <a:cs typeface="Times New Roman"/>
            </a:endParaRPr>
          </a:p>
          <a:p>
            <a:pPr marL="107950">
              <a:lnSpc>
                <a:spcPct val="100000"/>
              </a:lnSpc>
            </a:pPr>
            <a:r>
              <a:rPr dirty="0" sz="3000">
                <a:latin typeface="Times New Roman"/>
                <a:cs typeface="Times New Roman"/>
              </a:rPr>
              <a:t>The</a:t>
            </a:r>
            <a:r>
              <a:rPr dirty="0" sz="3000" spc="-7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entire</a:t>
            </a:r>
            <a:r>
              <a:rPr dirty="0" sz="3000" spc="-7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process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works</a:t>
            </a:r>
            <a:r>
              <a:rPr dirty="0" sz="3000" spc="-7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automatically</a:t>
            </a:r>
            <a:r>
              <a:rPr dirty="0" sz="3000" spc="-7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without</a:t>
            </a:r>
            <a:r>
              <a:rPr dirty="0" sz="3000" spc="-6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human</a:t>
            </a:r>
            <a:r>
              <a:rPr dirty="0" sz="3000" spc="-7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Times New Roman"/>
                <a:cs typeface="Times New Roman"/>
              </a:rPr>
              <a:t>intervention.</a:t>
            </a:r>
            <a:endParaRPr sz="300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 h="0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1790">
              <a:lnSpc>
                <a:spcPct val="100000"/>
              </a:lnSpc>
              <a:spcBef>
                <a:spcPts val="100"/>
              </a:spcBef>
            </a:pPr>
            <a:r>
              <a:rPr dirty="0"/>
              <a:t>WORKING</a:t>
            </a:r>
            <a:r>
              <a:rPr dirty="0" spc="-225"/>
              <a:t> </a:t>
            </a:r>
            <a:r>
              <a:rPr dirty="0" spc="-10"/>
              <a:t>PRINCIPLE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 h="0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503230" y="523542"/>
            <a:ext cx="3449320" cy="6127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50" spc="-10"/>
              <a:t>ADVANTAGES</a:t>
            </a:r>
            <a:endParaRPr sz="385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9104" y="1692100"/>
            <a:ext cx="142875" cy="1428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9104" y="2549350"/>
            <a:ext cx="142875" cy="1428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9104" y="3406600"/>
            <a:ext cx="142875" cy="1428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4235" y="6492871"/>
            <a:ext cx="142875" cy="1428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4235" y="7302496"/>
            <a:ext cx="142875" cy="1428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4235" y="8112121"/>
            <a:ext cx="142875" cy="1428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571239" y="1124950"/>
            <a:ext cx="14157325" cy="73037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922019">
              <a:lnSpc>
                <a:spcPct val="154100"/>
              </a:lnSpc>
              <a:spcBef>
                <a:spcPts val="95"/>
              </a:spcBef>
            </a:pPr>
            <a:r>
              <a:rPr dirty="0" sz="3650">
                <a:latin typeface="Times New Roman"/>
                <a:cs typeface="Times New Roman"/>
              </a:rPr>
              <a:t>Detects</a:t>
            </a:r>
            <a:r>
              <a:rPr dirty="0" sz="3650" spc="-25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gas</a:t>
            </a:r>
            <a:r>
              <a:rPr dirty="0" sz="3650" spc="-25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leakage</a:t>
            </a:r>
            <a:r>
              <a:rPr dirty="0" sz="3650" spc="-20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in</a:t>
            </a:r>
            <a:r>
              <a:rPr dirty="0" sz="3650" spc="-25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real</a:t>
            </a:r>
            <a:r>
              <a:rPr dirty="0" sz="3650" spc="-25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time</a:t>
            </a:r>
            <a:r>
              <a:rPr dirty="0" sz="3650" spc="-20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and</a:t>
            </a:r>
            <a:r>
              <a:rPr dirty="0" sz="3650" spc="-25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automatically</a:t>
            </a:r>
            <a:r>
              <a:rPr dirty="0" sz="3650" spc="-25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activates</a:t>
            </a:r>
            <a:r>
              <a:rPr dirty="0" sz="3650" spc="-20">
                <a:latin typeface="Times New Roman"/>
                <a:cs typeface="Times New Roman"/>
              </a:rPr>
              <a:t> </a:t>
            </a:r>
            <a:r>
              <a:rPr dirty="0" sz="3650" spc="-10">
                <a:latin typeface="Times New Roman"/>
                <a:cs typeface="Times New Roman"/>
              </a:rPr>
              <a:t>ventilation </a:t>
            </a:r>
            <a:r>
              <a:rPr dirty="0" sz="3650">
                <a:latin typeface="Times New Roman"/>
                <a:cs typeface="Times New Roman"/>
              </a:rPr>
              <a:t>Low</a:t>
            </a:r>
            <a:r>
              <a:rPr dirty="0" sz="3650" spc="-25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Cost</a:t>
            </a:r>
            <a:r>
              <a:rPr dirty="0" sz="3650" spc="-10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and</a:t>
            </a:r>
            <a:r>
              <a:rPr dirty="0" sz="3650" spc="-15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Easy</a:t>
            </a:r>
            <a:r>
              <a:rPr dirty="0" sz="3650" spc="-10">
                <a:latin typeface="Times New Roman"/>
                <a:cs typeface="Times New Roman"/>
              </a:rPr>
              <a:t> Implementation</a:t>
            </a:r>
            <a:endParaRPr sz="3650">
              <a:latin typeface="Times New Roman"/>
              <a:cs typeface="Times New Roman"/>
            </a:endParaRPr>
          </a:p>
          <a:p>
            <a:pPr marL="12700" marR="5080">
              <a:lnSpc>
                <a:spcPct val="154100"/>
              </a:lnSpc>
            </a:pPr>
            <a:r>
              <a:rPr dirty="0" sz="3650">
                <a:latin typeface="Times New Roman"/>
                <a:cs typeface="Times New Roman"/>
              </a:rPr>
              <a:t>Automatic</a:t>
            </a:r>
            <a:r>
              <a:rPr dirty="0" sz="3650" spc="-35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Environmental</a:t>
            </a:r>
            <a:r>
              <a:rPr dirty="0" sz="3650" spc="-35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Monitoring</a:t>
            </a:r>
            <a:r>
              <a:rPr dirty="0" sz="3650" spc="-35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–</a:t>
            </a:r>
            <a:r>
              <a:rPr dirty="0" sz="3650" spc="-35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Continuously</a:t>
            </a:r>
            <a:r>
              <a:rPr dirty="0" sz="3650" spc="-35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monitors</a:t>
            </a:r>
            <a:r>
              <a:rPr dirty="0" sz="3650" spc="-35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gas</a:t>
            </a:r>
            <a:r>
              <a:rPr dirty="0" sz="3650" spc="-35">
                <a:latin typeface="Times New Roman"/>
                <a:cs typeface="Times New Roman"/>
              </a:rPr>
              <a:t> </a:t>
            </a:r>
            <a:r>
              <a:rPr dirty="0" sz="3650" spc="-10">
                <a:latin typeface="Times New Roman"/>
                <a:cs typeface="Times New Roman"/>
              </a:rPr>
              <a:t>levels, </a:t>
            </a:r>
            <a:r>
              <a:rPr dirty="0" sz="3650">
                <a:latin typeface="Times New Roman"/>
                <a:cs typeface="Times New Roman"/>
              </a:rPr>
              <a:t>temperature,</a:t>
            </a:r>
            <a:r>
              <a:rPr dirty="0" sz="3650" spc="-50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light</a:t>
            </a:r>
            <a:r>
              <a:rPr dirty="0" sz="3650" spc="-50">
                <a:latin typeface="Times New Roman"/>
                <a:cs typeface="Times New Roman"/>
              </a:rPr>
              <a:t> </a:t>
            </a:r>
            <a:r>
              <a:rPr dirty="0" sz="3650" spc="-10">
                <a:latin typeface="Times New Roman"/>
                <a:cs typeface="Times New Roman"/>
              </a:rPr>
              <a:t>intensity,</a:t>
            </a:r>
            <a:r>
              <a:rPr dirty="0" sz="3650" spc="-50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and</a:t>
            </a:r>
            <a:r>
              <a:rPr dirty="0" sz="3650" spc="-45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human</a:t>
            </a:r>
            <a:r>
              <a:rPr dirty="0" sz="3650" spc="-50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movement</a:t>
            </a:r>
            <a:r>
              <a:rPr dirty="0" sz="3650" spc="-50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without</a:t>
            </a:r>
            <a:r>
              <a:rPr dirty="0" sz="3650" spc="-50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requiring</a:t>
            </a:r>
            <a:r>
              <a:rPr dirty="0" sz="3650" spc="-45">
                <a:latin typeface="Times New Roman"/>
                <a:cs typeface="Times New Roman"/>
              </a:rPr>
              <a:t> </a:t>
            </a:r>
            <a:r>
              <a:rPr dirty="0" sz="3650" spc="-20">
                <a:latin typeface="Times New Roman"/>
                <a:cs typeface="Times New Roman"/>
              </a:rPr>
              <a:t>human </a:t>
            </a:r>
            <a:r>
              <a:rPr dirty="0" sz="3650" spc="-10">
                <a:latin typeface="Times New Roman"/>
                <a:cs typeface="Times New Roman"/>
              </a:rPr>
              <a:t>intervention.</a:t>
            </a:r>
            <a:endParaRPr sz="3650">
              <a:latin typeface="Times New Roman"/>
              <a:cs typeface="Times New Roman"/>
            </a:endParaRPr>
          </a:p>
          <a:p>
            <a:pPr algn="ctr" marL="962025">
              <a:lnSpc>
                <a:spcPts val="4435"/>
              </a:lnSpc>
            </a:pPr>
            <a:r>
              <a:rPr dirty="0" sz="3700" spc="-10" b="1">
                <a:latin typeface="Times New Roman"/>
                <a:cs typeface="Times New Roman"/>
              </a:rPr>
              <a:t>APPLICATIONS</a:t>
            </a:r>
            <a:endParaRPr sz="3700">
              <a:latin typeface="Times New Roman"/>
              <a:cs typeface="Times New Roman"/>
            </a:endParaRPr>
          </a:p>
          <a:p>
            <a:pPr marL="44450" marR="10294620">
              <a:lnSpc>
                <a:spcPct val="143600"/>
              </a:lnSpc>
            </a:pPr>
            <a:r>
              <a:rPr dirty="0" sz="3700">
                <a:latin typeface="Times New Roman"/>
                <a:cs typeface="Times New Roman"/>
              </a:rPr>
              <a:t>Homes</a:t>
            </a:r>
            <a:r>
              <a:rPr dirty="0" sz="3700" spc="-35">
                <a:latin typeface="Times New Roman"/>
                <a:cs typeface="Times New Roman"/>
              </a:rPr>
              <a:t> </a:t>
            </a:r>
            <a:r>
              <a:rPr dirty="0" sz="3700">
                <a:latin typeface="Times New Roman"/>
                <a:cs typeface="Times New Roman"/>
              </a:rPr>
              <a:t>and</a:t>
            </a:r>
            <a:r>
              <a:rPr dirty="0" sz="3700" spc="-35">
                <a:latin typeface="Times New Roman"/>
                <a:cs typeface="Times New Roman"/>
              </a:rPr>
              <a:t> </a:t>
            </a:r>
            <a:r>
              <a:rPr dirty="0" sz="3700" spc="-10">
                <a:latin typeface="Times New Roman"/>
                <a:cs typeface="Times New Roman"/>
              </a:rPr>
              <a:t>kitchens Laboratories</a:t>
            </a:r>
            <a:endParaRPr sz="3700">
              <a:latin typeface="Times New Roman"/>
              <a:cs typeface="Times New Roman"/>
            </a:endParaRPr>
          </a:p>
          <a:p>
            <a:pPr marL="44450">
              <a:lnSpc>
                <a:spcPct val="100000"/>
              </a:lnSpc>
              <a:spcBef>
                <a:spcPts val="1935"/>
              </a:spcBef>
            </a:pPr>
            <a:r>
              <a:rPr dirty="0" sz="3700">
                <a:latin typeface="Times New Roman"/>
                <a:cs typeface="Times New Roman"/>
              </a:rPr>
              <a:t>Small</a:t>
            </a:r>
            <a:r>
              <a:rPr dirty="0" sz="3700" spc="-35">
                <a:latin typeface="Times New Roman"/>
                <a:cs typeface="Times New Roman"/>
              </a:rPr>
              <a:t> </a:t>
            </a:r>
            <a:r>
              <a:rPr dirty="0" sz="3700">
                <a:latin typeface="Times New Roman"/>
                <a:cs typeface="Times New Roman"/>
              </a:rPr>
              <a:t>industries</a:t>
            </a:r>
            <a:r>
              <a:rPr dirty="0" sz="3700" spc="-35">
                <a:latin typeface="Times New Roman"/>
                <a:cs typeface="Times New Roman"/>
              </a:rPr>
              <a:t> </a:t>
            </a:r>
            <a:r>
              <a:rPr dirty="0" sz="3700">
                <a:latin typeface="Times New Roman"/>
                <a:cs typeface="Times New Roman"/>
              </a:rPr>
              <a:t>and</a:t>
            </a:r>
            <a:r>
              <a:rPr dirty="0" sz="3700" spc="-30">
                <a:latin typeface="Times New Roman"/>
                <a:cs typeface="Times New Roman"/>
              </a:rPr>
              <a:t> </a:t>
            </a:r>
            <a:r>
              <a:rPr dirty="0" sz="3700" spc="-10">
                <a:latin typeface="Times New Roman"/>
                <a:cs typeface="Times New Roman"/>
              </a:rPr>
              <a:t>factories</a:t>
            </a:r>
            <a:endParaRPr sz="3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91652" y="660832"/>
            <a:ext cx="8791575" cy="69151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350"/>
              <a:t>CONCLUSION</a:t>
            </a:r>
            <a:r>
              <a:rPr dirty="0" sz="4350" spc="-35"/>
              <a:t> </a:t>
            </a:r>
            <a:r>
              <a:rPr dirty="0" sz="4350">
                <a:solidFill>
                  <a:srgbClr val="535353"/>
                </a:solidFill>
              </a:rPr>
              <a:t>&amp;</a:t>
            </a:r>
            <a:r>
              <a:rPr dirty="0" sz="4350" spc="-25">
                <a:solidFill>
                  <a:srgbClr val="535353"/>
                </a:solidFill>
              </a:rPr>
              <a:t> </a:t>
            </a:r>
            <a:r>
              <a:rPr dirty="0" sz="4350"/>
              <a:t>FUTURE</a:t>
            </a:r>
            <a:r>
              <a:rPr dirty="0" sz="4350" spc="-20"/>
              <a:t> </a:t>
            </a:r>
            <a:r>
              <a:rPr dirty="0" sz="4350" spc="-10"/>
              <a:t>SCOPE</a:t>
            </a:r>
            <a:endParaRPr sz="4350"/>
          </a:p>
        </p:txBody>
      </p:sp>
      <p:grpSp>
        <p:nvGrpSpPr>
          <p:cNvPr id="4" name="object 4"/>
          <p:cNvGrpSpPr/>
          <p:nvPr/>
        </p:nvGrpSpPr>
        <p:grpSpPr>
          <a:xfrm>
            <a:off x="1579668" y="1980648"/>
            <a:ext cx="142875" cy="1066800"/>
            <a:chOff x="1579668" y="1980648"/>
            <a:chExt cx="142875" cy="10668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9668" y="1980648"/>
              <a:ext cx="142875" cy="1428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9668" y="2904573"/>
              <a:ext cx="142875" cy="14287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9668" y="3828498"/>
            <a:ext cx="142875" cy="1428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9668" y="4752423"/>
            <a:ext cx="142875" cy="1428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9193" y="5511787"/>
            <a:ext cx="142875" cy="14287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589193" y="6359512"/>
            <a:ext cx="142875" cy="1838325"/>
            <a:chOff x="1589193" y="6359512"/>
            <a:chExt cx="142875" cy="183832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9193" y="6359512"/>
              <a:ext cx="142875" cy="1428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9193" y="7207237"/>
              <a:ext cx="142875" cy="1428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9193" y="8054962"/>
              <a:ext cx="142875" cy="142874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0"/>
              <a:t>Multi-</a:t>
            </a:r>
            <a:r>
              <a:rPr dirty="0"/>
              <a:t>level</a:t>
            </a:r>
            <a:r>
              <a:rPr dirty="0" spc="-25"/>
              <a:t> </a:t>
            </a:r>
            <a:r>
              <a:rPr dirty="0"/>
              <a:t>ventilation</a:t>
            </a:r>
            <a:r>
              <a:rPr dirty="0" spc="-15"/>
              <a:t> </a:t>
            </a:r>
            <a:r>
              <a:rPr dirty="0"/>
              <a:t>based</a:t>
            </a:r>
            <a:r>
              <a:rPr dirty="0" spc="-15"/>
              <a:t> </a:t>
            </a:r>
            <a:r>
              <a:rPr dirty="0"/>
              <a:t>on</a:t>
            </a:r>
            <a:r>
              <a:rPr dirty="0" spc="-15"/>
              <a:t> </a:t>
            </a:r>
            <a:r>
              <a:rPr dirty="0"/>
              <a:t>gas</a:t>
            </a:r>
            <a:r>
              <a:rPr dirty="0" spc="-15"/>
              <a:t> </a:t>
            </a:r>
            <a:r>
              <a:rPr dirty="0" spc="-10"/>
              <a:t>concentration.</a:t>
            </a:r>
          </a:p>
          <a:p>
            <a:pPr marL="12700">
              <a:lnSpc>
                <a:spcPct val="100000"/>
              </a:lnSpc>
              <a:spcBef>
                <a:spcPts val="2775"/>
              </a:spcBef>
            </a:pPr>
            <a:r>
              <a:rPr dirty="0" spc="-35"/>
              <a:t>GSM/Wi-</a:t>
            </a:r>
            <a:r>
              <a:rPr dirty="0"/>
              <a:t>Fi</a:t>
            </a:r>
            <a:r>
              <a:rPr dirty="0" spc="-15"/>
              <a:t> </a:t>
            </a:r>
            <a:r>
              <a:rPr dirty="0"/>
              <a:t>alerts</a:t>
            </a:r>
            <a:r>
              <a:rPr dirty="0" spc="5"/>
              <a:t> </a:t>
            </a:r>
            <a:r>
              <a:rPr dirty="0"/>
              <a:t>for</a:t>
            </a:r>
            <a:r>
              <a:rPr dirty="0" spc="-5"/>
              <a:t> </a:t>
            </a:r>
            <a:r>
              <a:rPr dirty="0"/>
              <a:t>remote </a:t>
            </a:r>
            <a:r>
              <a:rPr dirty="0" spc="-10"/>
              <a:t>monitoring.</a:t>
            </a:r>
          </a:p>
          <a:p>
            <a:pPr marL="12700" marR="941069">
              <a:lnSpc>
                <a:spcPts val="7280"/>
              </a:lnSpc>
              <a:spcBef>
                <a:spcPts val="700"/>
              </a:spcBef>
            </a:pPr>
            <a:r>
              <a:rPr dirty="0" spc="-10"/>
              <a:t>AI-</a:t>
            </a:r>
            <a:r>
              <a:rPr dirty="0"/>
              <a:t>based</a:t>
            </a:r>
            <a:r>
              <a:rPr dirty="0" spc="-25"/>
              <a:t> </a:t>
            </a:r>
            <a:r>
              <a:rPr dirty="0"/>
              <a:t>anomaly</a:t>
            </a:r>
            <a:r>
              <a:rPr dirty="0" spc="-20"/>
              <a:t> </a:t>
            </a:r>
            <a:r>
              <a:rPr dirty="0"/>
              <a:t>detection</a:t>
            </a:r>
            <a:r>
              <a:rPr dirty="0" spc="-20"/>
              <a:t> </a:t>
            </a:r>
            <a:r>
              <a:rPr dirty="0"/>
              <a:t>for</a:t>
            </a:r>
            <a:r>
              <a:rPr dirty="0" spc="-20"/>
              <a:t> </a:t>
            </a:r>
            <a:r>
              <a:rPr dirty="0"/>
              <a:t>fewer</a:t>
            </a:r>
            <a:r>
              <a:rPr dirty="0" spc="-20"/>
              <a:t> </a:t>
            </a:r>
            <a:r>
              <a:rPr dirty="0"/>
              <a:t>false</a:t>
            </a:r>
            <a:r>
              <a:rPr dirty="0" spc="-20"/>
              <a:t> </a:t>
            </a:r>
            <a:r>
              <a:rPr dirty="0" spc="-10"/>
              <a:t>alarms. Multi-</a:t>
            </a:r>
            <a:r>
              <a:rPr dirty="0"/>
              <a:t>gas</a:t>
            </a:r>
            <a:r>
              <a:rPr dirty="0" spc="-35"/>
              <a:t> </a:t>
            </a:r>
            <a:r>
              <a:rPr dirty="0"/>
              <a:t>monitoring</a:t>
            </a:r>
            <a:r>
              <a:rPr dirty="0" spc="-20"/>
              <a:t> </a:t>
            </a:r>
            <a:r>
              <a:rPr dirty="0"/>
              <a:t>using</a:t>
            </a:r>
            <a:r>
              <a:rPr dirty="0" spc="-25"/>
              <a:t> </a:t>
            </a:r>
            <a:r>
              <a:rPr dirty="0"/>
              <a:t>additional</a:t>
            </a:r>
            <a:r>
              <a:rPr dirty="0" spc="-20"/>
              <a:t> </a:t>
            </a:r>
            <a:r>
              <a:rPr dirty="0" spc="-10"/>
              <a:t>sensors.</a:t>
            </a:r>
          </a:p>
          <a:p>
            <a:pPr marL="16510">
              <a:lnSpc>
                <a:spcPct val="100000"/>
              </a:lnSpc>
              <a:spcBef>
                <a:spcPts val="770"/>
              </a:spcBef>
            </a:pPr>
            <a:r>
              <a:rPr dirty="0"/>
              <a:t>Smart</a:t>
            </a:r>
            <a:r>
              <a:rPr dirty="0" spc="30"/>
              <a:t> </a:t>
            </a:r>
            <a:r>
              <a:rPr dirty="0"/>
              <a:t>gas</a:t>
            </a:r>
            <a:r>
              <a:rPr dirty="0" spc="25"/>
              <a:t> </a:t>
            </a:r>
            <a:r>
              <a:rPr dirty="0"/>
              <a:t>leakage</a:t>
            </a:r>
            <a:r>
              <a:rPr dirty="0" spc="30"/>
              <a:t> </a:t>
            </a:r>
            <a:r>
              <a:rPr dirty="0"/>
              <a:t>detection</a:t>
            </a:r>
            <a:r>
              <a:rPr dirty="0" spc="25"/>
              <a:t> </a:t>
            </a:r>
            <a:r>
              <a:rPr dirty="0"/>
              <a:t>using</a:t>
            </a:r>
            <a:r>
              <a:rPr dirty="0" spc="30"/>
              <a:t> </a:t>
            </a:r>
            <a:r>
              <a:rPr dirty="0" spc="-10"/>
              <a:t>MQ-</a:t>
            </a:r>
            <a:r>
              <a:rPr dirty="0"/>
              <a:t>5</a:t>
            </a:r>
            <a:r>
              <a:rPr dirty="0" spc="25"/>
              <a:t> </a:t>
            </a:r>
            <a:r>
              <a:rPr dirty="0" spc="-10"/>
              <a:t>sensor.</a:t>
            </a:r>
          </a:p>
          <a:p>
            <a:pPr marL="16510" marR="5080">
              <a:lnSpc>
                <a:spcPct val="148300"/>
              </a:lnSpc>
            </a:pPr>
            <a:r>
              <a:rPr dirty="0"/>
              <a:t>Real-time</a:t>
            </a:r>
            <a:r>
              <a:rPr dirty="0" spc="25"/>
              <a:t> </a:t>
            </a:r>
            <a:r>
              <a:rPr dirty="0"/>
              <a:t>monitoring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35"/>
              <a:t> </a:t>
            </a:r>
            <a:r>
              <a:rPr dirty="0"/>
              <a:t>temperature,</a:t>
            </a:r>
            <a:r>
              <a:rPr dirty="0" spc="35"/>
              <a:t> </a:t>
            </a:r>
            <a:r>
              <a:rPr dirty="0"/>
              <a:t>light,</a:t>
            </a:r>
            <a:r>
              <a:rPr dirty="0" spc="35"/>
              <a:t> </a:t>
            </a:r>
            <a:r>
              <a:rPr dirty="0"/>
              <a:t>and</a:t>
            </a:r>
            <a:r>
              <a:rPr dirty="0" spc="35"/>
              <a:t> </a:t>
            </a:r>
            <a:r>
              <a:rPr dirty="0" spc="-10"/>
              <a:t>motion. </a:t>
            </a:r>
            <a:r>
              <a:rPr dirty="0"/>
              <a:t>Automatic</a:t>
            </a:r>
            <a:r>
              <a:rPr dirty="0" spc="25"/>
              <a:t> </a:t>
            </a:r>
            <a:r>
              <a:rPr dirty="0"/>
              <a:t>ventilation</a:t>
            </a:r>
            <a:r>
              <a:rPr dirty="0" spc="25"/>
              <a:t> </a:t>
            </a:r>
            <a:r>
              <a:rPr dirty="0"/>
              <a:t>during</a:t>
            </a:r>
            <a:r>
              <a:rPr dirty="0" spc="25"/>
              <a:t> </a:t>
            </a:r>
            <a:r>
              <a:rPr dirty="0"/>
              <a:t>gas</a:t>
            </a:r>
            <a:r>
              <a:rPr dirty="0" spc="25"/>
              <a:t> </a:t>
            </a:r>
            <a:r>
              <a:rPr dirty="0" spc="-10"/>
              <a:t>leakage.</a:t>
            </a:r>
          </a:p>
          <a:p>
            <a:pPr marL="16510">
              <a:lnSpc>
                <a:spcPct val="100000"/>
              </a:lnSpc>
              <a:spcBef>
                <a:spcPts val="2175"/>
              </a:spcBef>
            </a:pPr>
            <a:r>
              <a:rPr dirty="0"/>
              <a:t>Low-cost</a:t>
            </a:r>
            <a:r>
              <a:rPr dirty="0" spc="10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/>
              <a:t>effective</a:t>
            </a:r>
            <a:r>
              <a:rPr dirty="0" spc="10"/>
              <a:t> </a:t>
            </a:r>
            <a:r>
              <a:rPr dirty="0"/>
              <a:t>safety</a:t>
            </a:r>
            <a:r>
              <a:rPr dirty="0" spc="10"/>
              <a:t> </a:t>
            </a:r>
            <a:r>
              <a:rPr dirty="0" spc="-10"/>
              <a:t>solution.</a:t>
            </a: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4661539" cy="353341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91730" y="4184014"/>
            <a:ext cx="9104630" cy="1779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0" spc="-525">
                <a:latin typeface="Verdana"/>
                <a:cs typeface="Verdana"/>
              </a:rPr>
              <a:t>THANK</a:t>
            </a:r>
            <a:r>
              <a:rPr dirty="0" sz="11500" spc="-815">
                <a:latin typeface="Verdana"/>
                <a:cs typeface="Verdana"/>
              </a:rPr>
              <a:t> </a:t>
            </a:r>
            <a:r>
              <a:rPr dirty="0" sz="11500" spc="-700">
                <a:latin typeface="Verdana"/>
                <a:cs typeface="Verdana"/>
              </a:rPr>
              <a:t>YOU</a:t>
            </a:r>
            <a:endParaRPr sz="115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 h="0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HIMA</dc:creator>
  <cp:keywords>DAHLmiklq2Y,BAE7_AN9ffs,0</cp:keywords>
  <dc:title>Grey Minimalist Professional Project Presentation</dc:title>
  <dcterms:created xsi:type="dcterms:W3CDTF">2026-06-05T07:32:44Z</dcterms:created>
  <dcterms:modified xsi:type="dcterms:W3CDTF">2026-06-05T07:32:44Z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2026-06-05T00:00:00Z</vt:filetime>
  </property>
  <property fmtid="{D5CDD505-2E9C-101B-9397-08002B2CF9AE}" pid="4" name="Creator">
    <vt:lpwstr>Canva</vt:lpwstr>
  </property>
  <property fmtid="{D5CDD505-2E9C-101B-9397-08002B2CF9AE}" pid="5" name="LastSaved">
    <vt:filetime>2026-06-05T00:00:00Z</vt:filetime>
  </property>
  <property fmtid="{D5CDD505-2E9C-101B-9397-08002B2CF9AE}" pid="6" name="Producer">
    <vt:lpwstr>Canva</vt:lpwstr>
  </property>
</Properties>
</file>